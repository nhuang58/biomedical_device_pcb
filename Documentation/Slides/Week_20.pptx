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sldIdLst>
    <p:sldId id="267" r:id="rId5"/>
    <p:sldId id="279" r:id="rId6"/>
    <p:sldId id="306" r:id="rId7"/>
    <p:sldId id="309" r:id="rId8"/>
    <p:sldId id="300" r:id="rId9"/>
    <p:sldId id="301" r:id="rId10"/>
    <p:sldId id="302" r:id="rId11"/>
    <p:sldId id="303" r:id="rId12"/>
    <p:sldId id="307" r:id="rId13"/>
    <p:sldId id="304" r:id="rId14"/>
    <p:sldId id="305" r:id="rId15"/>
    <p:sldId id="299" r:id="rId16"/>
    <p:sldId id="277" r:id="rId17"/>
  </p:sldIdLst>
  <p:sldSz cx="9144000" cy="6858000" type="screen4x3"/>
  <p:notesSz cx="6858000" cy="9144000"/>
  <p:embeddedFontLst>
    <p:embeddedFont>
      <p:font typeface="Acumin Pro Condensed Semibold" panose="020B0706020202020204"/>
      <p:regular r:id="rId19"/>
      <p:bold r:id="rId20"/>
      <p:italic r:id="rId21"/>
      <p:boldItalic r:id="rId22"/>
    </p:embeddedFont>
    <p:embeddedFont>
      <p:font typeface="Acumin Pro Medium" panose="020B0604020202020204" pitchFamily="34" charset="77"/>
      <p:regular r:id="rId23"/>
      <p:italic r:id="rId24"/>
    </p:embeddedFont>
    <p:embeddedFont>
      <p:font typeface="Franklin Gothic Book" panose="020B0503020102020204" pitchFamily="34" charset="0"/>
      <p:regular r:id="rId25"/>
      <p:italic r:id="rId26"/>
    </p:embeddedFont>
    <p:embeddedFont>
      <p:font typeface="Franklin Gothic Medium" panose="020B0603020102020204" pitchFamily="34" charset="0"/>
      <p:regular r:id="rId27"/>
      <p:italic r:id="rId28"/>
    </p:embeddedFont>
    <p:embeddedFont>
      <p:font typeface="Franklin Gothic Medium Cond" panose="020B0606030402020204" pitchFamily="3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94402"/>
  </p:normalViewPr>
  <p:slideViewPr>
    <p:cSldViewPr snapToGrid="0">
      <p:cViewPr varScale="1">
        <p:scale>
          <a:sx n="86" d="100"/>
          <a:sy n="86" d="100"/>
        </p:scale>
        <p:origin x="216" y="66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B3CBF-71DE-8F99-F7EC-E1416263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A03D4-A08F-E5DA-7FD4-987F18FF7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27A1E-9330-C5D9-9863-B1BFD5AB3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2A95C-F2DE-C6B4-112D-F3C040649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99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B806-DBA4-B13C-8D0A-83837593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C370E-124E-C84F-445B-9EA4077AA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9D1F3-B2F7-F106-D88B-8580A361A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9289D-EAEB-5E66-B9D5-5CC447BBF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85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FFF1-9215-6EA4-2132-390FDEE5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3B566-8B27-D175-B212-B341C220F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C4ACC-F669-4F75-F1FC-D9570EDDC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00AF4-3578-34A1-3B14-5D522538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82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09A0-B150-12C5-EC06-482C6C28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5224A-0DF9-F111-0668-1317D2CE0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F2AD4-CD5B-640B-55DB-36B946DFC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B800-281F-601E-1DF8-48FFCCF66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7682-D270-41B3-1C7C-D66BED1C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FF2DD-050B-AE1F-1EB6-1D542973A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30F63-7900-48A2-1434-9B71088D6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B2F58-01C0-09C6-BE7D-2AEF4E32D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96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AA03-2623-A8DB-2EE0-668C51C0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BB1CA-FEFE-9C20-1917-F6C66D786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759C9-A3CF-A21E-72E2-03F4C3BCD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A8FA5-209F-4D1C-51C3-DB73630E2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3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A2C8-3150-8396-B721-9845C031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6239F-97BC-9653-7690-DC81F5687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C5057-86B3-C20C-7AA3-95557BCAC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D64E0-AC4A-7E35-BE32-79AEB31E0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8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02/02/26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Devices Prepared: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Devices all successfully flashed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Ready hand over to Agriculture department (Wednesday)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Website Updated: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Targeting time changed to 24 hours; live website changed to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Sample Data Collected: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IMU Alarm data collected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Analysis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Reports: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Sensor form 12(s)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DigiKey</a:t>
            </a:r>
            <a:r>
              <a:rPr lang="en-US" dirty="0"/>
              <a:t>/Mouser/Vendor purchase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4CAAF5-830E-C675-4FCD-BFED86C54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10 Hz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D2FC61-FEAC-AAEC-7318-98A49654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Devices Prepared</a:t>
            </a:r>
          </a:p>
        </p:txBody>
      </p:sp>
      <p:pic>
        <p:nvPicPr>
          <p:cNvPr id="18" name="Picture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186B9F-F7D7-6F67-9C67-1AAF352CD5A6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 l="31988" r="20591"/>
          <a:stretch>
            <a:fillRect/>
          </a:stretch>
        </p:blipFill>
        <p:spPr>
          <a:xfrm>
            <a:off x="574176" y="1430814"/>
            <a:ext cx="2128476" cy="1750458"/>
          </a:xfr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38764F3-E455-E1D6-1635-CD517F57D9A0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B03F6A4-6521-1162-10F9-4E73B6BA3A13}"/>
              </a:ext>
            </a:extLst>
          </p:cNvPr>
          <p:cNvSpPr>
            <a:spLocks noGrp="1"/>
          </p:cNvSpPr>
          <p:nvPr>
            <p:ph type="pic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43183B-E168-D370-042A-D6102FC5FA31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/>
              <a:t>25 Hz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ACD74D-912B-5562-4E52-C8E55EE826AA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50 Hz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3E4F4A-22F5-0ED3-735E-858F415180BD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dirty="0"/>
              <a:t>100 Hz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EA61C1-3FF5-5632-57A5-823C665382AB}"/>
              </a:ext>
            </a:extLst>
          </p:cNvPr>
          <p:cNvSpPr>
            <a:spLocks noGrp="1"/>
          </p:cNvSpPr>
          <p:nvPr>
            <p:ph type="pic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CC7760-1FA4-01F4-9934-F059C3C5F41E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B30BF5-7937-8AF8-0413-6ED9FCB52567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r>
              <a:rPr lang="en-US" dirty="0"/>
              <a:t>200 Hz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CC1F5F6-594B-5E04-FFC4-25B57B2A053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 dirty="0"/>
              <a:t>3/11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32BE946-F9B4-6C14-4BE4-FD0ADEC5C5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Devices all successfully flashed at varying rates</a:t>
            </a:r>
          </a:p>
          <a:p>
            <a:endParaRPr lang="en-US" dirty="0"/>
          </a:p>
        </p:txBody>
      </p:sp>
      <p:pic>
        <p:nvPicPr>
          <p:cNvPr id="19" name="Picture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08159F-78CC-3628-AF26-06D1CCA1E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88" r="20591"/>
          <a:stretch>
            <a:fillRect/>
          </a:stretch>
        </p:blipFill>
        <p:spPr>
          <a:xfrm>
            <a:off x="3507762" y="1399791"/>
            <a:ext cx="1693825" cy="1750458"/>
          </a:xfrm>
          <a:prstGeom prst="rect">
            <a:avLst/>
          </a:prstGeom>
        </p:spPr>
      </p:pic>
      <p:pic>
        <p:nvPicPr>
          <p:cNvPr id="20" name="Picture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4C2ED2-24D0-8F5F-9835-11D874CA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87" r="8522"/>
          <a:stretch>
            <a:fillRect/>
          </a:stretch>
        </p:blipFill>
        <p:spPr>
          <a:xfrm>
            <a:off x="6518128" y="1399791"/>
            <a:ext cx="1886091" cy="1750458"/>
          </a:xfrm>
          <a:prstGeom prst="rect">
            <a:avLst/>
          </a:prstGeom>
        </p:spPr>
      </p:pic>
      <p:pic>
        <p:nvPicPr>
          <p:cNvPr id="21" name="Picture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ECFFDE-6966-E358-7D37-F1D03753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88" r="9656"/>
          <a:stretch>
            <a:fillRect/>
          </a:stretch>
        </p:blipFill>
        <p:spPr>
          <a:xfrm>
            <a:off x="714240" y="3799583"/>
            <a:ext cx="1657202" cy="1750458"/>
          </a:xfrm>
          <a:prstGeom prst="rect">
            <a:avLst/>
          </a:prstGeom>
        </p:spPr>
      </p:pic>
      <p:pic>
        <p:nvPicPr>
          <p:cNvPr id="22" name="Picture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80EF34-A0C4-9F94-6E27-B3274709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88" r="2112"/>
          <a:stretch>
            <a:fillRect/>
          </a:stretch>
        </p:blipFill>
        <p:spPr>
          <a:xfrm>
            <a:off x="3743399" y="3799583"/>
            <a:ext cx="1657202" cy="175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2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DBB2A3-2FA5-AC2A-9E07-B9D9CB67D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5B308-9A64-0BE6-B588-34372EA6A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0C5BD8-345E-5369-DDC8-5DC2EAFB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Rate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1A16-8EC3-3B2B-14C6-6B8CAF8219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064C1-FA00-C84E-3F41-0E9FFEF84E66}"/>
              </a:ext>
            </a:extLst>
          </p:cNvPr>
          <p:cNvSpPr/>
          <p:nvPr/>
        </p:nvSpPr>
        <p:spPr>
          <a:xfrm>
            <a:off x="1723869" y="2848131"/>
            <a:ext cx="2353456" cy="21735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Nicla</a:t>
            </a:r>
          </a:p>
          <a:p>
            <a:pPr algn="ctr"/>
            <a:r>
              <a:rPr lang="en-US" dirty="0"/>
              <a:t>Adjust Sampling Rate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EF055B-1FD2-B8B7-86F1-793119452A23}"/>
              </a:ext>
            </a:extLst>
          </p:cNvPr>
          <p:cNvCxnSpPr/>
          <p:nvPr/>
        </p:nvCxnSpPr>
        <p:spPr>
          <a:xfrm>
            <a:off x="4077325" y="3927423"/>
            <a:ext cx="1514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B146468-A543-7B9F-7A2C-697E1F708C08}"/>
              </a:ext>
            </a:extLst>
          </p:cNvPr>
          <p:cNvSpPr/>
          <p:nvPr/>
        </p:nvSpPr>
        <p:spPr>
          <a:xfrm>
            <a:off x="5591331" y="2848131"/>
            <a:ext cx="2053653" cy="21735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</a:t>
            </a:r>
          </a:p>
          <a:p>
            <a:pPr algn="ctr"/>
            <a:r>
              <a:rPr lang="en-US" dirty="0"/>
              <a:t>Limit </a:t>
            </a:r>
          </a:p>
          <a:p>
            <a:pPr algn="ctr"/>
            <a:r>
              <a:rPr lang="en-US" dirty="0"/>
              <a:t>(Ensure there is no overlap/repetitive data)</a:t>
            </a:r>
          </a:p>
        </p:txBody>
      </p:sp>
    </p:spTree>
    <p:extLst>
      <p:ext uri="{BB962C8B-B14F-4D97-AF65-F5344CB8AC3E}">
        <p14:creationId xmlns:p14="http://schemas.microsoft.com/office/powerpoint/2010/main" val="2328325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2783-7BD7-FD7C-1592-3AB06C43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626B6-6DD7-464D-7C26-C1715A75F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Ready hand over to Agriculture department (Wednesday)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675E7-B997-73FE-606B-01C43525D5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Sampling Rate can now be adjusted before collecting data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 addition to changing sampling rate in firmware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Adds additional layer of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and interactive for Agriculture department to use: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F71AE-23ED-FDF1-01C3-78EB8840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Devices Prepared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3FFE8-ABE7-13A9-4A68-B83E74071D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4/11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CEB35-85F5-D396-ABA7-6F1DD6347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505" y="3230085"/>
            <a:ext cx="3897911" cy="232923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BA7915-ABF6-4DF0-9445-37BC4419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56" y="3230085"/>
            <a:ext cx="4181026" cy="208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5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C36F-314D-9DD6-3F53-F78787A5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786BB4-8B6A-92D2-BE03-B9A454B05C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Targeting time changed to 24 hours; Live website changed to match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CF73D-4385-F114-D24E-4D6C6802EB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through continuous 20-24 hour data collection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apparent adverse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Longer image spread: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03A0C6-CF85-8BA6-29C8-F7CA30AC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Updated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84658-9B5F-AC40-AFC0-7A86165FFE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5/11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7BF086-291E-A74E-0680-3E284258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67" y="2634343"/>
            <a:ext cx="6286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2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70D3-0964-DD61-423C-6F5A5A5D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A2FEA0-CD6D-CB14-D305-255AB35905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IMU Alarm Data Collected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5394-4D85-842C-EF24-D6F021451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 perturbations from IMU visible from alarm vibrations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run and averaged over all 5 sampling rates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D47205-ADBD-C4C4-D667-31A5561C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Data Collected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7AA2-C0BA-70EB-B8DC-B89811F9C9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6/11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C73CAA-EF13-7102-6357-545E797A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49" y="2524116"/>
            <a:ext cx="6667536" cy="337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6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0AB76-BA67-0F25-ADB2-CCE669CD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66EB78-8B9E-AC18-AE2F-1AD64B611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Sample Data Collected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DCF8-2C38-4AEE-BAD0-3B74D98047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script to analyze if the small perturbations are 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Seems initial vibration causes a major initial spike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9.8 -&gt; 10.8 m/s^2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rate: 1g ~ 4096 LSB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Bit notation of the senso gets converted to raw acceleration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7CD6A8C9-6B90-0A60-2649-B6AC603C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868" y="2431252"/>
            <a:ext cx="4069232" cy="261448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098540-1E0B-08F3-D5FA-241CC52533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Analysis of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33B24-3D92-3DA5-E8CA-0B8AC751FEA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7/11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9474-FBA8-B52C-AD4C-CE6D4390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94B532E-CDF2-1BCD-651A-9E8532627A08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1947937" y="1543324"/>
            <a:ext cx="5256290" cy="4454706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2A887-8E8C-CBD8-727E-A873BA66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Sample Data Collected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3DF63-1486-52C0-8409-11171CB049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Program used for data capture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C930C-352E-4188-B6B1-D682855832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7/11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1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802B-6069-FC86-8CDE-6BE49EF6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255753-C073-0BEF-F44D-2C7D209C06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Sensor form 12(s)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AD3CEDE-45B1-B6B8-36DF-F4F0AC0D4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/>
          <a:lstStyle/>
          <a:p>
            <a:r>
              <a:rPr lang="en-US" dirty="0"/>
              <a:t>Form 12 for strain gauge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014B7D-6644-711A-3443-C61B809B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Purchase Reports</a:t>
            </a:r>
          </a:p>
        </p:txBody>
      </p:sp>
      <p:pic>
        <p:nvPicPr>
          <p:cNvPr id="7" name="Picture 6" descr="A screenshot of a document&#10;&#10;AI-generated content may be incorrect.">
            <a:extLst>
              <a:ext uri="{FF2B5EF4-FFF2-40B4-BE49-F238E27FC236}">
                <a16:creationId xmlns:a16="http://schemas.microsoft.com/office/drawing/2014/main" id="{973F3AE1-7004-9405-078A-2080ED0E6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2447"/>
          <a:stretch>
            <a:fillRect/>
          </a:stretch>
        </p:blipFill>
        <p:spPr>
          <a:xfrm>
            <a:off x="334734" y="1543324"/>
            <a:ext cx="4102309" cy="1885677"/>
          </a:xfrm>
          <a:prstGeom prst="rect">
            <a:avLst/>
          </a:prstGeom>
          <a:noFill/>
        </p:spPr>
      </p:pic>
      <p:pic>
        <p:nvPicPr>
          <p:cNvPr id="9" name="Picture 8" descr="A close-up of a blank form&#10;&#10;AI-generated content may be incorrect.">
            <a:extLst>
              <a:ext uri="{FF2B5EF4-FFF2-40B4-BE49-F238E27FC236}">
                <a16:creationId xmlns:a16="http://schemas.microsoft.com/office/drawing/2014/main" id="{B5AD7235-FA73-252D-28A9-F69C4E9B5F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11" r="2" b="2"/>
          <a:stretch>
            <a:fillRect/>
          </a:stretch>
        </p:blipFill>
        <p:spPr>
          <a:xfrm>
            <a:off x="4706959" y="1543324"/>
            <a:ext cx="4094045" cy="1885677"/>
          </a:xfrm>
          <a:prstGeom prst="rect">
            <a:avLst/>
          </a:prstGeom>
          <a:noFill/>
        </p:spPr>
      </p:pic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5010B8D-BB83-7836-3324-C976CA3285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/>
          <a:lstStyle/>
          <a:p>
            <a:r>
              <a:rPr lang="en-US" dirty="0"/>
              <a:t>Form 12 for force sensor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C4917-5D37-9A22-B309-4FC307FCFC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8/11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11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6F36-879E-6BF4-4677-6E9C9FBC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6FE3C5-89AD-E3D0-CD5E-FD7333DD4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DigiKey</a:t>
            </a:r>
            <a:r>
              <a:rPr lang="en-US" dirty="0"/>
              <a:t>/Mouser/Vendor purchase orders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699F4-B212-0FDC-0F24-02EDFC333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According to purchasing office, common vendors can be ordered from </a:t>
            </a:r>
            <a:r>
              <a:rPr lang="en-US" dirty="0" err="1"/>
              <a:t>one.purdue.edu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try to put in requests for common vendors (</a:t>
            </a:r>
            <a:r>
              <a:rPr lang="en-US" dirty="0" err="1"/>
              <a:t>DigiKey</a:t>
            </a:r>
            <a:r>
              <a:rPr lang="en-US" dirty="0"/>
              <a:t>) to get components without having to get a Form 12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E6A22C-BF1C-6392-CDC8-D15D5D07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Reports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E4B51-8C00-7CF9-B170-99CA359E28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106423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Data Analysis of IMU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Obtain </a:t>
            </a:r>
            <a:r>
              <a:rPr lang="en-US" dirty="0" err="1"/>
              <a:t>Powercast</a:t>
            </a:r>
            <a:r>
              <a:rPr lang="en-US" dirty="0"/>
              <a:t> RFID -&gt; DC Converters from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 around with circuits on breadboard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25043</TotalTime>
  <Words>443</Words>
  <Application>Microsoft Macintosh PowerPoint</Application>
  <PresentationFormat>On-screen Show (4:3)</PresentationFormat>
  <Paragraphs>116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Acumin Pro</vt:lpstr>
      <vt:lpstr>Calibri</vt:lpstr>
      <vt:lpstr>Acumin Pro Semibold</vt:lpstr>
      <vt:lpstr>Franklin Gothic Book</vt:lpstr>
      <vt:lpstr>Franklin Gothic Medium Cond</vt:lpstr>
      <vt:lpstr>Acumin Pro Condensed Semibold</vt:lpstr>
      <vt:lpstr>Wingdings</vt:lpstr>
      <vt:lpstr>Acumin Pro Medium</vt:lpstr>
      <vt:lpstr>Franklin Gothic Medium</vt:lpstr>
      <vt:lpstr>Office Theme</vt:lpstr>
      <vt:lpstr>Week 4</vt:lpstr>
      <vt:lpstr>This Week</vt:lpstr>
      <vt:lpstr>Devices Prepared</vt:lpstr>
      <vt:lpstr>Sampling Rate</vt:lpstr>
      <vt:lpstr>Devices Prepared</vt:lpstr>
      <vt:lpstr>Website Updated</vt:lpstr>
      <vt:lpstr>Sample Data Collected</vt:lpstr>
      <vt:lpstr>Sample Data Collected</vt:lpstr>
      <vt:lpstr>Sample Data Collected</vt:lpstr>
      <vt:lpstr>Purchase Reports</vt:lpstr>
      <vt:lpstr>Purchase Reports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71</cp:revision>
  <dcterms:created xsi:type="dcterms:W3CDTF">2023-02-16T02:16:06Z</dcterms:created>
  <dcterms:modified xsi:type="dcterms:W3CDTF">2026-02-02T20:19:15Z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