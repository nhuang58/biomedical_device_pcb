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8"/>
  </p:notesMasterIdLst>
  <p:sldIdLst>
    <p:sldId id="267" r:id="rId5"/>
    <p:sldId id="279" r:id="rId6"/>
    <p:sldId id="280" r:id="rId7"/>
    <p:sldId id="297" r:id="rId8"/>
    <p:sldId id="293" r:id="rId9"/>
    <p:sldId id="294" r:id="rId10"/>
    <p:sldId id="295" r:id="rId11"/>
    <p:sldId id="296" r:id="rId12"/>
    <p:sldId id="298" r:id="rId13"/>
    <p:sldId id="299" r:id="rId14"/>
    <p:sldId id="300" r:id="rId15"/>
    <p:sldId id="278" r:id="rId16"/>
    <p:sldId id="277" r:id="rId17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9"/>
      <p:bold r:id="rId20"/>
      <p:italic r:id="rId21"/>
      <p:boldItalic r:id="rId22"/>
    </p:embeddedFont>
    <p:embeddedFont>
      <p:font typeface="Acumin Pro Medium" panose="020B0604020202020204" pitchFamily="34" charset="77"/>
      <p:regular r:id="rId23"/>
      <p:italic r:id="rId24"/>
    </p:embeddedFont>
    <p:embeddedFont>
      <p:font typeface="Franklin Gothic Book" panose="020B0503020102020204" pitchFamily="34" charset="0"/>
      <p:regular r:id="rId25"/>
      <p:italic r:id="rId26"/>
    </p:embeddedFont>
    <p:embeddedFont>
      <p:font typeface="Franklin Gothic Medium" panose="020B0603020102020204" pitchFamily="34" charset="0"/>
      <p:regular r:id="rId27"/>
      <p:italic r:id="rId28"/>
    </p:embeddedFont>
    <p:embeddedFont>
      <p:font typeface="Franklin Gothic Medium Cond" panose="020B0606030402020204" pitchFamily="3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90"/>
    <p:restoredTop sz="94597"/>
  </p:normalViewPr>
  <p:slideViewPr>
    <p:cSldViewPr snapToGrid="0">
      <p:cViewPr varScale="1">
        <p:scale>
          <a:sx n="107" d="100"/>
          <a:sy n="107" d="100"/>
        </p:scale>
        <p:origin x="1192" y="168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D99D63-CE17-4818-8AEA-E6A3E2788E8C}" type="doc">
      <dgm:prSet loTypeId="urn:microsoft.com/office/officeart/2005/8/layout/vList5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3E4B671-3C02-4DA4-B550-B9182002B456}">
      <dgm:prSet/>
      <dgm:spPr/>
      <dgm:t>
        <a:bodyPr/>
        <a:lstStyle/>
        <a:p>
          <a:r>
            <a:rPr lang="en-US" b="0" i="0" baseline="0"/>
            <a:t>Force Gauge:</a:t>
          </a:r>
          <a:endParaRPr lang="en-US"/>
        </a:p>
      </dgm:t>
    </dgm:pt>
    <dgm:pt modelId="{AA6E3219-3A34-46AD-9DF3-03F42205FD51}" type="parTrans" cxnId="{E2CF9583-59DB-45D9-9148-5FB02CD8E9A8}">
      <dgm:prSet/>
      <dgm:spPr/>
      <dgm:t>
        <a:bodyPr/>
        <a:lstStyle/>
        <a:p>
          <a:endParaRPr lang="en-US"/>
        </a:p>
      </dgm:t>
    </dgm:pt>
    <dgm:pt modelId="{B8946D1E-EB5D-485A-BE42-5494782744AD}" type="sibTrans" cxnId="{E2CF9583-59DB-45D9-9148-5FB02CD8E9A8}">
      <dgm:prSet/>
      <dgm:spPr/>
      <dgm:t>
        <a:bodyPr/>
        <a:lstStyle/>
        <a:p>
          <a:endParaRPr lang="en-US"/>
        </a:p>
      </dgm:t>
    </dgm:pt>
    <dgm:pt modelId="{D2991DD9-342B-4C80-BB28-87AC10A7554B}">
      <dgm:prSet/>
      <dgm:spPr/>
      <dgm:t>
        <a:bodyPr/>
        <a:lstStyle/>
        <a:p>
          <a:r>
            <a:rPr lang="en-US" b="0" i="0" baseline="0"/>
            <a:t>1.4 m/s Impact Speed Maximum</a:t>
          </a:r>
          <a:endParaRPr lang="en-US"/>
        </a:p>
      </dgm:t>
    </dgm:pt>
    <dgm:pt modelId="{EC997BF3-1FF4-4C49-83D5-3EB219F7615A}" type="parTrans" cxnId="{1114A2C2-1E56-4361-91AC-B04FF8BFE3D3}">
      <dgm:prSet/>
      <dgm:spPr/>
      <dgm:t>
        <a:bodyPr/>
        <a:lstStyle/>
        <a:p>
          <a:endParaRPr lang="en-US"/>
        </a:p>
      </dgm:t>
    </dgm:pt>
    <dgm:pt modelId="{B2C6134C-0ED7-4733-B7F6-9A0FA26AF857}" type="sibTrans" cxnId="{1114A2C2-1E56-4361-91AC-B04FF8BFE3D3}">
      <dgm:prSet/>
      <dgm:spPr/>
      <dgm:t>
        <a:bodyPr/>
        <a:lstStyle/>
        <a:p>
          <a:endParaRPr lang="en-US"/>
        </a:p>
      </dgm:t>
    </dgm:pt>
    <dgm:pt modelId="{1ABC1BA0-03A0-4D79-99DF-C3D13466707C}">
      <dgm:prSet/>
      <dgm:spPr/>
      <dgm:t>
        <a:bodyPr/>
        <a:lstStyle/>
        <a:p>
          <a:r>
            <a:rPr lang="en-US" b="0" i="0" baseline="0"/>
            <a:t>1-2 MPa Contact Pressure on Bone</a:t>
          </a:r>
          <a:endParaRPr lang="en-US"/>
        </a:p>
      </dgm:t>
    </dgm:pt>
    <dgm:pt modelId="{9BB9BAE9-706A-4EA1-A091-5DDC2B1C71FE}" type="parTrans" cxnId="{1DAC577F-EF66-47BC-9419-1FA42B1931A8}">
      <dgm:prSet/>
      <dgm:spPr/>
      <dgm:t>
        <a:bodyPr/>
        <a:lstStyle/>
        <a:p>
          <a:endParaRPr lang="en-US"/>
        </a:p>
      </dgm:t>
    </dgm:pt>
    <dgm:pt modelId="{3E8738C1-E668-4BF7-BF97-CCD543FD4C8C}" type="sibTrans" cxnId="{1DAC577F-EF66-47BC-9419-1FA42B1931A8}">
      <dgm:prSet/>
      <dgm:spPr/>
      <dgm:t>
        <a:bodyPr/>
        <a:lstStyle/>
        <a:p>
          <a:endParaRPr lang="en-US"/>
        </a:p>
      </dgm:t>
    </dgm:pt>
    <dgm:pt modelId="{6A689C43-6FF7-4C60-9787-704A0AB87630}">
      <dgm:prSet/>
      <dgm:spPr/>
      <dgm:t>
        <a:bodyPr/>
        <a:lstStyle/>
        <a:p>
          <a:r>
            <a:rPr lang="en-US" b="0" i="0" baseline="0"/>
            <a:t>Down from ~10 MPa earlier</a:t>
          </a:r>
          <a:endParaRPr lang="en-US"/>
        </a:p>
      </dgm:t>
    </dgm:pt>
    <dgm:pt modelId="{2D58F30B-A286-4B90-AEBC-C6394E8233D6}" type="parTrans" cxnId="{96DAB520-FB89-4D6D-9BC4-7243D80E6510}">
      <dgm:prSet/>
      <dgm:spPr/>
      <dgm:t>
        <a:bodyPr/>
        <a:lstStyle/>
        <a:p>
          <a:endParaRPr lang="en-US"/>
        </a:p>
      </dgm:t>
    </dgm:pt>
    <dgm:pt modelId="{AC0EEC0B-79E1-4649-A073-AD871824A518}" type="sibTrans" cxnId="{96DAB520-FB89-4D6D-9BC4-7243D80E6510}">
      <dgm:prSet/>
      <dgm:spPr/>
      <dgm:t>
        <a:bodyPr/>
        <a:lstStyle/>
        <a:p>
          <a:endParaRPr lang="en-US"/>
        </a:p>
      </dgm:t>
    </dgm:pt>
    <dgm:pt modelId="{1920BC96-3686-40A2-9B82-CCD749D46BEE}">
      <dgm:prSet/>
      <dgm:spPr/>
      <dgm:t>
        <a:bodyPr/>
        <a:lstStyle/>
        <a:p>
          <a:r>
            <a:rPr lang="en-US" b="0" i="0" baseline="0"/>
            <a:t>Strain Gauge:</a:t>
          </a:r>
          <a:endParaRPr lang="en-US"/>
        </a:p>
      </dgm:t>
    </dgm:pt>
    <dgm:pt modelId="{7F991802-0745-47D8-A626-5175F443E50E}" type="parTrans" cxnId="{5048126C-CCE5-4B33-B37A-E95999E891EA}">
      <dgm:prSet/>
      <dgm:spPr/>
      <dgm:t>
        <a:bodyPr/>
        <a:lstStyle/>
        <a:p>
          <a:endParaRPr lang="en-US"/>
        </a:p>
      </dgm:t>
    </dgm:pt>
    <dgm:pt modelId="{E945C74B-9037-4A50-A23A-A6E333588200}" type="sibTrans" cxnId="{5048126C-CCE5-4B33-B37A-E95999E891EA}">
      <dgm:prSet/>
      <dgm:spPr/>
      <dgm:t>
        <a:bodyPr/>
        <a:lstStyle/>
        <a:p>
          <a:endParaRPr lang="en-US"/>
        </a:p>
      </dgm:t>
    </dgm:pt>
    <dgm:pt modelId="{3EE50F07-FA77-4F63-BE5C-3F0941B94B3C}">
      <dgm:prSet/>
      <dgm:spPr/>
      <dgm:t>
        <a:bodyPr/>
        <a:lstStyle/>
        <a:p>
          <a:r>
            <a:rPr lang="en-US" b="0" i="0" baseline="0"/>
            <a:t>~5-10% Strain due to Impact</a:t>
          </a:r>
          <a:endParaRPr lang="en-US"/>
        </a:p>
      </dgm:t>
    </dgm:pt>
    <dgm:pt modelId="{E2542133-7FBB-41ED-B3B6-FFA6311BCCED}" type="parTrans" cxnId="{A07E740A-FA6E-45B7-83F5-19D95290E9D2}">
      <dgm:prSet/>
      <dgm:spPr/>
      <dgm:t>
        <a:bodyPr/>
        <a:lstStyle/>
        <a:p>
          <a:endParaRPr lang="en-US"/>
        </a:p>
      </dgm:t>
    </dgm:pt>
    <dgm:pt modelId="{CE2ECC74-8A74-4461-A60C-58DD26241F73}" type="sibTrans" cxnId="{A07E740A-FA6E-45B7-83F5-19D95290E9D2}">
      <dgm:prSet/>
      <dgm:spPr/>
      <dgm:t>
        <a:bodyPr/>
        <a:lstStyle/>
        <a:p>
          <a:endParaRPr lang="en-US"/>
        </a:p>
      </dgm:t>
    </dgm:pt>
    <dgm:pt modelId="{6A0E59AC-5784-4CD1-92D4-5735AA8CDF24}">
      <dgm:prSet/>
      <dgm:spPr/>
      <dgm:t>
        <a:bodyPr/>
        <a:lstStyle/>
        <a:p>
          <a:r>
            <a:rPr lang="en-US" b="0" i="0" baseline="0"/>
            <a:t>1.42 kg approximated for Hen mass</a:t>
          </a:r>
          <a:endParaRPr lang="en-US"/>
        </a:p>
      </dgm:t>
    </dgm:pt>
    <dgm:pt modelId="{5BF413C6-4BBD-444B-B0A1-A90FF82B1A7A}" type="parTrans" cxnId="{7FC74674-4791-44AC-AA3E-E9179E97F6D2}">
      <dgm:prSet/>
      <dgm:spPr/>
      <dgm:t>
        <a:bodyPr/>
        <a:lstStyle/>
        <a:p>
          <a:endParaRPr lang="en-US"/>
        </a:p>
      </dgm:t>
    </dgm:pt>
    <dgm:pt modelId="{16FCF180-80A8-4319-B4EC-AC88EC078D20}" type="sibTrans" cxnId="{7FC74674-4791-44AC-AA3E-E9179E97F6D2}">
      <dgm:prSet/>
      <dgm:spPr/>
      <dgm:t>
        <a:bodyPr/>
        <a:lstStyle/>
        <a:p>
          <a:endParaRPr lang="en-US"/>
        </a:p>
      </dgm:t>
    </dgm:pt>
    <dgm:pt modelId="{F0A98B7F-FF21-0349-8F08-46EA37094226}" type="pres">
      <dgm:prSet presAssocID="{93D99D63-CE17-4818-8AEA-E6A3E2788E8C}" presName="Name0" presStyleCnt="0">
        <dgm:presLayoutVars>
          <dgm:dir/>
          <dgm:animLvl val="lvl"/>
          <dgm:resizeHandles val="exact"/>
        </dgm:presLayoutVars>
      </dgm:prSet>
      <dgm:spPr/>
    </dgm:pt>
    <dgm:pt modelId="{AF1AA793-53CC-C64D-B382-54054ADF90B4}" type="pres">
      <dgm:prSet presAssocID="{33E4B671-3C02-4DA4-B550-B9182002B456}" presName="linNode" presStyleCnt="0"/>
      <dgm:spPr/>
    </dgm:pt>
    <dgm:pt modelId="{0BE0B8DC-F28E-1A46-92E1-EA8EE5B39252}" type="pres">
      <dgm:prSet presAssocID="{33E4B671-3C02-4DA4-B550-B9182002B456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EDA43C8-5535-2540-A721-10CA2F4B0A9B}" type="pres">
      <dgm:prSet presAssocID="{33E4B671-3C02-4DA4-B550-B9182002B456}" presName="descendantText" presStyleLbl="alignAccFollowNode1" presStyleIdx="0" presStyleCnt="2">
        <dgm:presLayoutVars>
          <dgm:bulletEnabled val="1"/>
        </dgm:presLayoutVars>
      </dgm:prSet>
      <dgm:spPr/>
    </dgm:pt>
    <dgm:pt modelId="{83D5B96C-E04D-A84D-B63F-6B0088D5D562}" type="pres">
      <dgm:prSet presAssocID="{B8946D1E-EB5D-485A-BE42-5494782744AD}" presName="sp" presStyleCnt="0"/>
      <dgm:spPr/>
    </dgm:pt>
    <dgm:pt modelId="{8D1480D9-21B9-634E-BBA1-8CB7857D11FB}" type="pres">
      <dgm:prSet presAssocID="{1920BC96-3686-40A2-9B82-CCD749D46BEE}" presName="linNode" presStyleCnt="0"/>
      <dgm:spPr/>
    </dgm:pt>
    <dgm:pt modelId="{C8FFF922-CF77-F148-A2FB-1011EB557B28}" type="pres">
      <dgm:prSet presAssocID="{1920BC96-3686-40A2-9B82-CCD749D46BE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8781515-6A06-134D-B37B-BA6599CE2426}" type="pres">
      <dgm:prSet presAssocID="{1920BC96-3686-40A2-9B82-CCD749D46BE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5D958709-6EEB-0A46-B413-9EFC9CA8E91C}" type="presOf" srcId="{93D99D63-CE17-4818-8AEA-E6A3E2788E8C}" destId="{F0A98B7F-FF21-0349-8F08-46EA37094226}" srcOrd="0" destOrd="0" presId="urn:microsoft.com/office/officeart/2005/8/layout/vList5"/>
    <dgm:cxn modelId="{A07E740A-FA6E-45B7-83F5-19D95290E9D2}" srcId="{1920BC96-3686-40A2-9B82-CCD749D46BEE}" destId="{3EE50F07-FA77-4F63-BE5C-3F0941B94B3C}" srcOrd="0" destOrd="0" parTransId="{E2542133-7FBB-41ED-B3B6-FFA6311BCCED}" sibTransId="{CE2ECC74-8A74-4461-A60C-58DD26241F73}"/>
    <dgm:cxn modelId="{96DAB520-FB89-4D6D-9BC4-7243D80E6510}" srcId="{1ABC1BA0-03A0-4D79-99DF-C3D13466707C}" destId="{6A689C43-6FF7-4C60-9787-704A0AB87630}" srcOrd="0" destOrd="0" parTransId="{2D58F30B-A286-4B90-AEBC-C6394E8233D6}" sibTransId="{AC0EEC0B-79E1-4649-A073-AD871824A518}"/>
    <dgm:cxn modelId="{6C62F65A-CEF5-1842-B318-CD5336482EB7}" type="presOf" srcId="{1920BC96-3686-40A2-9B82-CCD749D46BEE}" destId="{C8FFF922-CF77-F148-A2FB-1011EB557B28}" srcOrd="0" destOrd="0" presId="urn:microsoft.com/office/officeart/2005/8/layout/vList5"/>
    <dgm:cxn modelId="{5048126C-CCE5-4B33-B37A-E95999E891EA}" srcId="{93D99D63-CE17-4818-8AEA-E6A3E2788E8C}" destId="{1920BC96-3686-40A2-9B82-CCD749D46BEE}" srcOrd="1" destOrd="0" parTransId="{7F991802-0745-47D8-A626-5175F443E50E}" sibTransId="{E945C74B-9037-4A50-A23A-A6E333588200}"/>
    <dgm:cxn modelId="{7FC74674-4791-44AC-AA3E-E9179E97F6D2}" srcId="{1920BC96-3686-40A2-9B82-CCD749D46BEE}" destId="{6A0E59AC-5784-4CD1-92D4-5735AA8CDF24}" srcOrd="1" destOrd="0" parTransId="{5BF413C6-4BBD-444B-B0A1-A90FF82B1A7A}" sibTransId="{16FCF180-80A8-4319-B4EC-AC88EC078D20}"/>
    <dgm:cxn modelId="{E22AA17E-54C9-DA43-87E6-53189312EC11}" type="presOf" srcId="{1ABC1BA0-03A0-4D79-99DF-C3D13466707C}" destId="{5EDA43C8-5535-2540-A721-10CA2F4B0A9B}" srcOrd="0" destOrd="1" presId="urn:microsoft.com/office/officeart/2005/8/layout/vList5"/>
    <dgm:cxn modelId="{1DAC577F-EF66-47BC-9419-1FA42B1931A8}" srcId="{33E4B671-3C02-4DA4-B550-B9182002B456}" destId="{1ABC1BA0-03A0-4D79-99DF-C3D13466707C}" srcOrd="1" destOrd="0" parTransId="{9BB9BAE9-706A-4EA1-A091-5DDC2B1C71FE}" sibTransId="{3E8738C1-E668-4BF7-BF97-CCD543FD4C8C}"/>
    <dgm:cxn modelId="{B4F27A7F-E146-0E4F-8590-6AE5848B8D0B}" type="presOf" srcId="{6A689C43-6FF7-4C60-9787-704A0AB87630}" destId="{5EDA43C8-5535-2540-A721-10CA2F4B0A9B}" srcOrd="0" destOrd="2" presId="urn:microsoft.com/office/officeart/2005/8/layout/vList5"/>
    <dgm:cxn modelId="{E2CF9583-59DB-45D9-9148-5FB02CD8E9A8}" srcId="{93D99D63-CE17-4818-8AEA-E6A3E2788E8C}" destId="{33E4B671-3C02-4DA4-B550-B9182002B456}" srcOrd="0" destOrd="0" parTransId="{AA6E3219-3A34-46AD-9DF3-03F42205FD51}" sibTransId="{B8946D1E-EB5D-485A-BE42-5494782744AD}"/>
    <dgm:cxn modelId="{580A4384-C3DC-E745-A2AE-757C0ACE908D}" type="presOf" srcId="{33E4B671-3C02-4DA4-B550-B9182002B456}" destId="{0BE0B8DC-F28E-1A46-92E1-EA8EE5B39252}" srcOrd="0" destOrd="0" presId="urn:microsoft.com/office/officeart/2005/8/layout/vList5"/>
    <dgm:cxn modelId="{EDF2828D-E297-2140-A998-2B14EE63EB62}" type="presOf" srcId="{6A0E59AC-5784-4CD1-92D4-5735AA8CDF24}" destId="{48781515-6A06-134D-B37B-BA6599CE2426}" srcOrd="0" destOrd="1" presId="urn:microsoft.com/office/officeart/2005/8/layout/vList5"/>
    <dgm:cxn modelId="{CF427499-36A9-784D-95AD-CF7DDB0A9054}" type="presOf" srcId="{D2991DD9-342B-4C80-BB28-87AC10A7554B}" destId="{5EDA43C8-5535-2540-A721-10CA2F4B0A9B}" srcOrd="0" destOrd="0" presId="urn:microsoft.com/office/officeart/2005/8/layout/vList5"/>
    <dgm:cxn modelId="{1114A2C2-1E56-4361-91AC-B04FF8BFE3D3}" srcId="{33E4B671-3C02-4DA4-B550-B9182002B456}" destId="{D2991DD9-342B-4C80-BB28-87AC10A7554B}" srcOrd="0" destOrd="0" parTransId="{EC997BF3-1FF4-4C49-83D5-3EB219F7615A}" sibTransId="{B2C6134C-0ED7-4733-B7F6-9A0FA26AF857}"/>
    <dgm:cxn modelId="{A5C7B6E2-25D2-864E-B1F0-143E34A2F005}" type="presOf" srcId="{3EE50F07-FA77-4F63-BE5C-3F0941B94B3C}" destId="{48781515-6A06-134D-B37B-BA6599CE2426}" srcOrd="0" destOrd="0" presId="urn:microsoft.com/office/officeart/2005/8/layout/vList5"/>
    <dgm:cxn modelId="{D8A26FA9-BE5F-6244-A482-5384653C71EF}" type="presParOf" srcId="{F0A98B7F-FF21-0349-8F08-46EA37094226}" destId="{AF1AA793-53CC-C64D-B382-54054ADF90B4}" srcOrd="0" destOrd="0" presId="urn:microsoft.com/office/officeart/2005/8/layout/vList5"/>
    <dgm:cxn modelId="{56AB1D0D-E23D-AD47-AE7C-39B3105EF850}" type="presParOf" srcId="{AF1AA793-53CC-C64D-B382-54054ADF90B4}" destId="{0BE0B8DC-F28E-1A46-92E1-EA8EE5B39252}" srcOrd="0" destOrd="0" presId="urn:microsoft.com/office/officeart/2005/8/layout/vList5"/>
    <dgm:cxn modelId="{3FAAAA22-0368-1F47-A28B-139505AE8B6F}" type="presParOf" srcId="{AF1AA793-53CC-C64D-B382-54054ADF90B4}" destId="{5EDA43C8-5535-2540-A721-10CA2F4B0A9B}" srcOrd="1" destOrd="0" presId="urn:microsoft.com/office/officeart/2005/8/layout/vList5"/>
    <dgm:cxn modelId="{B325F1A8-B3AA-044A-8A23-E92025B6A30D}" type="presParOf" srcId="{F0A98B7F-FF21-0349-8F08-46EA37094226}" destId="{83D5B96C-E04D-A84D-B63F-6B0088D5D562}" srcOrd="1" destOrd="0" presId="urn:microsoft.com/office/officeart/2005/8/layout/vList5"/>
    <dgm:cxn modelId="{AA9427F4-DDC9-7545-91C1-EF480CE006F2}" type="presParOf" srcId="{F0A98B7F-FF21-0349-8F08-46EA37094226}" destId="{8D1480D9-21B9-634E-BBA1-8CB7857D11FB}" srcOrd="2" destOrd="0" presId="urn:microsoft.com/office/officeart/2005/8/layout/vList5"/>
    <dgm:cxn modelId="{A19A6391-BBA5-B448-B0F9-20EC76B79DEB}" type="presParOf" srcId="{8D1480D9-21B9-634E-BBA1-8CB7857D11FB}" destId="{C8FFF922-CF77-F148-A2FB-1011EB557B28}" srcOrd="0" destOrd="0" presId="urn:microsoft.com/office/officeart/2005/8/layout/vList5"/>
    <dgm:cxn modelId="{410C6616-F7E3-954A-B9D6-D57FE69B8336}" type="presParOf" srcId="{8D1480D9-21B9-634E-BBA1-8CB7857D11FB}" destId="{48781515-6A06-134D-B37B-BA6599CE242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A43C8-5535-2540-A721-10CA2F4B0A9B}">
      <dsp:nvSpPr>
        <dsp:cNvPr id="0" name=""/>
        <dsp:cNvSpPr/>
      </dsp:nvSpPr>
      <dsp:spPr>
        <a:xfrm rot="5400000">
          <a:off x="1904085" y="-228319"/>
          <a:ext cx="1713260" cy="2598321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1.4 m/s Impact Speed Maximum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1-2 MPa Contact Pressure on Bone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Down from ~10 MPa earlier</a:t>
          </a:r>
          <a:endParaRPr lang="en-US" sz="1800" kern="1200"/>
        </a:p>
      </dsp:txBody>
      <dsp:txXfrm rot="-5400000">
        <a:off x="1461555" y="297845"/>
        <a:ext cx="2514687" cy="1545992"/>
      </dsp:txXfrm>
    </dsp:sp>
    <dsp:sp modelId="{0BE0B8DC-F28E-1A46-92E1-EA8EE5B39252}">
      <dsp:nvSpPr>
        <dsp:cNvPr id="0" name=""/>
        <dsp:cNvSpPr/>
      </dsp:nvSpPr>
      <dsp:spPr>
        <a:xfrm>
          <a:off x="0" y="53"/>
          <a:ext cx="1461555" cy="214157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Force Gauge:</a:t>
          </a:r>
          <a:endParaRPr lang="en-US" sz="2900" kern="1200"/>
        </a:p>
      </dsp:txBody>
      <dsp:txXfrm>
        <a:off x="71347" y="71400"/>
        <a:ext cx="1318861" cy="1998882"/>
      </dsp:txXfrm>
    </dsp:sp>
    <dsp:sp modelId="{48781515-6A06-134D-B37B-BA6599CE2426}">
      <dsp:nvSpPr>
        <dsp:cNvPr id="0" name=""/>
        <dsp:cNvSpPr/>
      </dsp:nvSpPr>
      <dsp:spPr>
        <a:xfrm rot="5400000">
          <a:off x="1904085" y="2020335"/>
          <a:ext cx="1713260" cy="2598321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~5-10% Strain due to Impact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1.42 kg approximated for Hen mass</a:t>
          </a:r>
          <a:endParaRPr lang="en-US" sz="1800" kern="1200"/>
        </a:p>
      </dsp:txBody>
      <dsp:txXfrm rot="-5400000">
        <a:off x="1461555" y="2546499"/>
        <a:ext cx="2514687" cy="1545992"/>
      </dsp:txXfrm>
    </dsp:sp>
    <dsp:sp modelId="{C8FFF922-CF77-F148-A2FB-1011EB557B28}">
      <dsp:nvSpPr>
        <dsp:cNvPr id="0" name=""/>
        <dsp:cNvSpPr/>
      </dsp:nvSpPr>
      <dsp:spPr>
        <a:xfrm>
          <a:off x="0" y="2248708"/>
          <a:ext cx="1461555" cy="214157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Strain Gauge:</a:t>
          </a:r>
          <a:endParaRPr lang="en-US" sz="2900" kern="1200"/>
        </a:p>
      </dsp:txBody>
      <dsp:txXfrm>
        <a:off x="71347" y="2320055"/>
        <a:ext cx="1318861" cy="1998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digikey.com/en/products/detail/keystone-electronics/504/2745584?utm_campaign=buynow&amp;utm_medium=aggregator&amp;utm_source=snapeda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5361756.fs1.hubspotusercontent-na1.net/hubfs/5361756/SingleTact%20Documents/SingleTact_Datasheet.pdf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15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12/12/2025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Invoice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Selection of PCB Sensors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Based on Input from Mechanical Engineering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Finalized Sensor Selections with Diagrams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Finalized Part Selections with Footprints and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Creation of Data Logger Executable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Insights into Permanent Solutions for Data Logging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kern="1200" cap="none" baseline="0" dirty="0">
                <a:latin typeface="Acumin Pro Condensed Semibold" panose="020B0506020202020204" pitchFamily="34" charset="77"/>
                <a:ea typeface="+mj-ea"/>
                <a:cs typeface="+mj-cs"/>
              </a:rPr>
              <a:t>PCB Invoice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114652E-DDA4-65A6-F0C1-BF80F199B159}"/>
              </a:ext>
            </a:extLst>
          </p:cNvPr>
          <p:cNvSpPr txBox="1">
            <a:spLocks/>
          </p:cNvSpPr>
          <p:nvPr/>
        </p:nvSpPr>
        <p:spPr>
          <a:xfrm>
            <a:off x="351065" y="1543324"/>
            <a:ext cx="5060384" cy="4390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§"/>
            </a:pPr>
            <a:r>
              <a:rPr lang="en-US" dirty="0"/>
              <a:t>Effective Shipment Date: </a:t>
            </a:r>
            <a:r>
              <a:rPr lang="en-US" b="1" dirty="0"/>
              <a:t>12/11/2025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dirty="0"/>
              <a:t>Needed to purchase some equipment on the side (Not available on Vendor website </a:t>
            </a:r>
          </a:p>
          <a:p>
            <a:pPr marL="514350" lvl="1" indent="-171450">
              <a:buFont typeface="Wingdings" pitchFamily="2" charset="2"/>
              <a:buChar char="§"/>
            </a:pPr>
            <a:r>
              <a:rPr lang="en-US" dirty="0"/>
              <a:t>Battery Holder: </a:t>
            </a:r>
            <a:r>
              <a:rPr lang="en-US" dirty="0">
                <a:hlinkClick r:id="rId2"/>
              </a:rPr>
              <a:t>https://www.digikey.com/en/products/detail/keystone-electronics/504/2745584?utm_campaign=buynow&amp;utm_medium=aggregator&amp;utm_source=snapeda</a:t>
            </a:r>
            <a:endParaRPr lang="en-US" dirty="0"/>
          </a:p>
          <a:p>
            <a:pPr marL="514350" lvl="1" indent="-171450">
              <a:buFont typeface="Wingdings" pitchFamily="2" charset="2"/>
              <a:buChar char="§"/>
            </a:pPr>
            <a:r>
              <a:rPr lang="en-US" dirty="0"/>
              <a:t>Need to Solder manually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CE415B-ADA6-DDA8-A029-4935BC9DB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875" y="3263482"/>
            <a:ext cx="4069232" cy="3031576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b="1" i="0" kern="1200" baseline="0" dirty="0">
                <a:latin typeface="Acumin Pro Condensed Semibold" panose="020B0506020202020204" pitchFamily="34" charset="77"/>
                <a:ea typeface="+mn-ea"/>
                <a:cs typeface="+mn-cs"/>
              </a:rPr>
              <a:t>PCB Ordered from Procurement Office in POTR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kern="1200" dirty="0">
                <a:latin typeface="Acumin Pro" panose="020B0504020202020204" pitchFamily="34" charset="77"/>
                <a:ea typeface="+mn-ea"/>
                <a:cs typeface="+mn-cs"/>
              </a:rPr>
              <a:t>3/13</a:t>
            </a:r>
          </a:p>
        </p:txBody>
      </p:sp>
      <p:pic>
        <p:nvPicPr>
          <p:cNvPr id="12" name="Picture 11" descr="A diagram of a device&#10;&#10;AI-generated content may be incorrect.">
            <a:extLst>
              <a:ext uri="{FF2B5EF4-FFF2-40B4-BE49-F238E27FC236}">
                <a16:creationId xmlns:a16="http://schemas.microsoft.com/office/drawing/2014/main" id="{95FEF970-F7E9-48C9-ACEF-5F69434A9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51" y="3606983"/>
            <a:ext cx="3609439" cy="250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5A2B-1099-E1AC-183F-18516A68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2CCEE6-CA01-22CC-E47E-2CE2EB2D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kern="1200" cap="none" baseline="0">
                <a:latin typeface="Acumin Pro Condensed Semibold" panose="020B0506020202020204" pitchFamily="34" charset="77"/>
                <a:ea typeface="+mj-ea"/>
                <a:cs typeface="+mj-cs"/>
              </a:rPr>
              <a:t>Selection of PCB Sensors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A1E6B2-2609-70EB-D3A5-157A2F1965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b="1" i="0" kern="1200" baseline="0">
                <a:latin typeface="Acumin Pro Condensed Semibold" panose="020B0506020202020204" pitchFamily="34" charset="77"/>
                <a:ea typeface="+mn-ea"/>
                <a:cs typeface="+mn-cs"/>
              </a:rPr>
              <a:t>Based on Input from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49AE-AC5C-3BAD-0609-7EC2E92140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kern="1200" dirty="0">
                <a:latin typeface="Acumin Pro" panose="020B0504020202020204" pitchFamily="34" charset="77"/>
                <a:ea typeface="+mn-ea"/>
                <a:cs typeface="+mn-cs"/>
              </a:rPr>
              <a:t>4/13</a:t>
            </a:r>
          </a:p>
        </p:txBody>
      </p:sp>
      <p:graphicFrame>
        <p:nvGraphicFramePr>
          <p:cNvPr id="17" name="Text Placeholder 2">
            <a:extLst>
              <a:ext uri="{FF2B5EF4-FFF2-40B4-BE49-F238E27FC236}">
                <a16:creationId xmlns:a16="http://schemas.microsoft.com/office/drawing/2014/main" id="{12329A2F-3AFF-3392-08B1-EB54454644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7008950"/>
              </p:ext>
            </p:extLst>
          </p:nvPr>
        </p:nvGraphicFramePr>
        <p:xfrm>
          <a:off x="351065" y="1543324"/>
          <a:ext cx="4059877" cy="4390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110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AD1A-2E4D-47F6-E456-4B00492A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247E1D-1951-869C-7B96-2C52A6130B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Finalized Sensor Selections with Diagrams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20DE0E-BBB7-5402-C4DA-CCC178F3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PCB Sensors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F25A5-6814-AC7A-E164-4B0F668E24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5/13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AC2D78-E525-5EA4-CA04-68BC91124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Force Sensor </a:t>
            </a:r>
            <a:r>
              <a:rPr lang="en-US" dirty="0"/>
              <a:t>(Capacitive Sensor → Charge Amplifier)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Force Sensor: </a:t>
            </a:r>
            <a:r>
              <a:rPr lang="en-US" b="1" dirty="0" err="1"/>
              <a:t>SingleTact</a:t>
            </a:r>
            <a:r>
              <a:rPr lang="en-US" b="1" dirty="0"/>
              <a:t> Force Sensor: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https://5361756.fs1.hubspotusercontent-na1.net/hubfs/5361756/SingleTact%20Documents/SingleTact_Datasheet.pdf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Charge Amplifier: </a:t>
            </a:r>
            <a:r>
              <a:rPr lang="en-US" b="1" dirty="0"/>
              <a:t>AD7150: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u="sng" dirty="0"/>
              <a:t>https://</a:t>
            </a:r>
            <a:r>
              <a:rPr lang="en-US" u="sng" dirty="0" err="1"/>
              <a:t>www.analog.com</a:t>
            </a:r>
            <a:r>
              <a:rPr lang="en-US" u="sng" dirty="0"/>
              <a:t>/</a:t>
            </a:r>
            <a:r>
              <a:rPr lang="en-US" u="sng" dirty="0" err="1"/>
              <a:t>en</a:t>
            </a:r>
            <a:r>
              <a:rPr lang="en-US" u="sng" dirty="0"/>
              <a:t>/products/ad7150.html</a:t>
            </a:r>
          </a:p>
        </p:txBody>
      </p:sp>
      <p:pic>
        <p:nvPicPr>
          <p:cNvPr id="6" name="Picture 5" descr="A diagram of a charge&#10;&#10;AI-generated content may be incorrect.">
            <a:extLst>
              <a:ext uri="{FF2B5EF4-FFF2-40B4-BE49-F238E27FC236}">
                <a16:creationId xmlns:a16="http://schemas.microsoft.com/office/drawing/2014/main" id="{9668F83F-C30F-9562-D697-DFE0AC2DD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08" y="3429000"/>
            <a:ext cx="7192412" cy="2072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F50FA5-F065-C172-4BDA-903B1C9A66F9}"/>
              </a:ext>
            </a:extLst>
          </p:cNvPr>
          <p:cNvSpPr txBox="1"/>
          <p:nvPr/>
        </p:nvSpPr>
        <p:spPr>
          <a:xfrm>
            <a:off x="3231641" y="5503488"/>
            <a:ext cx="42295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Figure 1: Diagram of Finalized Force Sensor</a:t>
            </a:r>
          </a:p>
        </p:txBody>
      </p:sp>
    </p:spTree>
    <p:extLst>
      <p:ext uri="{BB962C8B-B14F-4D97-AF65-F5344CB8AC3E}">
        <p14:creationId xmlns:p14="http://schemas.microsoft.com/office/powerpoint/2010/main" val="3234221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932EAA-BC6E-B2F6-3A55-F7F4546C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Selection of PCB Sensors</a:t>
            </a:r>
            <a:endParaRPr lang="en-US" sz="3300" dirty="0"/>
          </a:p>
        </p:txBody>
      </p:sp>
      <p:pic>
        <p:nvPicPr>
          <p:cNvPr id="6" name="Picture 5" descr="A diagram of a yellow object with a point and a point&#10;&#10;AI-generated content may be incorrect.">
            <a:extLst>
              <a:ext uri="{FF2B5EF4-FFF2-40B4-BE49-F238E27FC236}">
                <a16:creationId xmlns:a16="http://schemas.microsoft.com/office/drawing/2014/main" id="{77282762-2E9F-2C4E-886B-1A7E9D814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3" r="8403" b="3"/>
          <a:stretch>
            <a:fillRect/>
          </a:stretch>
        </p:blipFill>
        <p:spPr>
          <a:xfrm>
            <a:off x="351065" y="1543324"/>
            <a:ext cx="4059877" cy="4390338"/>
          </a:xfrm>
          <a:prstGeom prst="rect">
            <a:avLst/>
          </a:prstGeom>
          <a:noFill/>
        </p:spPr>
      </p:pic>
      <p:pic>
        <p:nvPicPr>
          <p:cNvPr id="7" name="Picture 6" descr="A diagram of a small microchip&#10;&#10;AI-generated content may be incorrect.">
            <a:extLst>
              <a:ext uri="{FF2B5EF4-FFF2-40B4-BE49-F238E27FC236}">
                <a16:creationId xmlns:a16="http://schemas.microsoft.com/office/drawing/2014/main" id="{905F2776-228B-73B7-E1E0-01286C8742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51" r="14990" b="-4"/>
          <a:stretch>
            <a:fillRect/>
          </a:stretch>
        </p:blipFill>
        <p:spPr>
          <a:xfrm>
            <a:off x="4731868" y="1543324"/>
            <a:ext cx="4069232" cy="4390338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4D6162-0FB8-3F0B-8062-475E26329B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Finalized Part Selections with Footprints and Metrics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B1B52-7636-6472-A629-82084473AB7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6/13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A9C78-7086-A26B-6586-D12CDA626344}"/>
              </a:ext>
            </a:extLst>
          </p:cNvPr>
          <p:cNvSpPr txBox="1"/>
          <p:nvPr/>
        </p:nvSpPr>
        <p:spPr>
          <a:xfrm>
            <a:off x="1406769" y="5809957"/>
            <a:ext cx="244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Force Gauge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512F9A-577F-7710-1DD1-AD20E33FD3B9}"/>
              </a:ext>
            </a:extLst>
          </p:cNvPr>
          <p:cNvSpPr txBox="1"/>
          <p:nvPr/>
        </p:nvSpPr>
        <p:spPr>
          <a:xfrm>
            <a:off x="5863883" y="5787603"/>
            <a:ext cx="244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Charge Amplifier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8679C-EF4E-68CA-6E8D-1E9CE2BB746A}"/>
              </a:ext>
            </a:extLst>
          </p:cNvPr>
          <p:cNvSpPr/>
          <p:nvPr/>
        </p:nvSpPr>
        <p:spPr>
          <a:xfrm>
            <a:off x="118753" y="1543324"/>
            <a:ext cx="2137559" cy="3171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rgbClr val="FF0000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0607C2-4E48-A743-95C5-52B84263F1D1}"/>
              </a:ext>
            </a:extLst>
          </p:cNvPr>
          <p:cNvSpPr txBox="1"/>
          <p:nvPr/>
        </p:nvSpPr>
        <p:spPr>
          <a:xfrm>
            <a:off x="351064" y="1319754"/>
            <a:ext cx="24477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Outside region irrelevant</a:t>
            </a:r>
          </a:p>
        </p:txBody>
      </p:sp>
    </p:spTree>
    <p:extLst>
      <p:ext uri="{BB962C8B-B14F-4D97-AF65-F5344CB8AC3E}">
        <p14:creationId xmlns:p14="http://schemas.microsoft.com/office/powerpoint/2010/main" val="1611386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6CA40-1DEC-513C-7804-F52CB072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FAA087-214C-DB66-33EF-AB8450BD64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Finalized Sensor Selections with Diagrams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C3047A-8F0F-9039-5013-99EF91DC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PCB Sensors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C4C4-F709-6D1D-417A-A618A9CA55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7/13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CC6E24-94EE-D4E9-DF23-BC692916AA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Strain Sensor </a:t>
            </a:r>
            <a:r>
              <a:rPr lang="en-US" dirty="0"/>
              <a:t>(Resistive Sensor → Wheatstone Bridge)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Resistive Sensor: </a:t>
            </a:r>
            <a:r>
              <a:rPr lang="en-US" b="1" dirty="0"/>
              <a:t>C4A-06-125SLA-120-39P 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https://</a:t>
            </a:r>
            <a:r>
              <a:rPr lang="en-US" dirty="0" err="1"/>
              <a:t>mm.digikey.com</a:t>
            </a:r>
            <a:r>
              <a:rPr lang="en-US" dirty="0"/>
              <a:t>/Volume0/</a:t>
            </a:r>
            <a:r>
              <a:rPr lang="en-US" dirty="0" err="1"/>
              <a:t>opasdata</a:t>
            </a:r>
            <a:r>
              <a:rPr lang="en-US" dirty="0"/>
              <a:t>/d220001/medias/docus/696/125SL.pdf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Charge Amplifier: </a:t>
            </a:r>
            <a:r>
              <a:rPr lang="en-US" b="1" dirty="0"/>
              <a:t>INA333AIDGKT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https://</a:t>
            </a:r>
            <a:r>
              <a:rPr lang="en-US" dirty="0" err="1"/>
              <a:t>www.digikey.com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/products/detail/</a:t>
            </a:r>
            <a:r>
              <a:rPr lang="en-US" dirty="0" err="1"/>
              <a:t>texas</a:t>
            </a:r>
            <a:r>
              <a:rPr lang="en-US" dirty="0"/>
              <a:t>-instruments/INA333AIDGKT/1888785?</a:t>
            </a:r>
          </a:p>
        </p:txBody>
      </p:sp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1D890481-4938-A041-FC6B-01BE4C8C1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51" y="3080118"/>
            <a:ext cx="7324385" cy="22345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0B06BC-F342-81D0-EFB2-82E2DB1362B0}"/>
              </a:ext>
            </a:extLst>
          </p:cNvPr>
          <p:cNvSpPr txBox="1"/>
          <p:nvPr/>
        </p:nvSpPr>
        <p:spPr>
          <a:xfrm>
            <a:off x="3021779" y="5410131"/>
            <a:ext cx="42295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Figure 2: Diagram of Finalized Strain Sensor</a:t>
            </a:r>
          </a:p>
        </p:txBody>
      </p:sp>
    </p:spTree>
    <p:extLst>
      <p:ext uri="{BB962C8B-B14F-4D97-AF65-F5344CB8AC3E}">
        <p14:creationId xmlns:p14="http://schemas.microsoft.com/office/powerpoint/2010/main" val="3815612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37824-3649-9DF8-027A-1B0F47B2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3D6472-8934-877D-998E-7820C789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Selection of PCB Sensors</a:t>
            </a:r>
            <a:endParaRPr lang="en-US" sz="33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BB3C36-0A21-90F3-06E2-A3D115A82C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Finalized Part Selections with Footprints and Metrics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D7D2A-E939-AC5F-347D-C0F28B35074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8/13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0E1F7-3CDB-AD23-8B94-9A94F88E3EF1}"/>
              </a:ext>
            </a:extLst>
          </p:cNvPr>
          <p:cNvSpPr txBox="1"/>
          <p:nvPr/>
        </p:nvSpPr>
        <p:spPr>
          <a:xfrm>
            <a:off x="6994566" y="1631879"/>
            <a:ext cx="244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Strain Gauge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DB71E-87ED-CE4C-9E36-544FD175B157}"/>
              </a:ext>
            </a:extLst>
          </p:cNvPr>
          <p:cNvSpPr txBox="1"/>
          <p:nvPr/>
        </p:nvSpPr>
        <p:spPr>
          <a:xfrm>
            <a:off x="3884118" y="3966803"/>
            <a:ext cx="244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Charge Amplifier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07491A10-2E3C-1262-FEE2-1C3D987BA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" y="1318430"/>
            <a:ext cx="6858639" cy="1042322"/>
          </a:xfrm>
          <a:prstGeom prst="rect">
            <a:avLst/>
          </a:prstGeom>
        </p:spPr>
      </p:pic>
      <p:pic>
        <p:nvPicPr>
          <p:cNvPr id="11" name="Picture 10" descr="A blueprint of a computer chip&#10;&#10;AI-generated content may be incorrect.">
            <a:extLst>
              <a:ext uri="{FF2B5EF4-FFF2-40B4-BE49-F238E27FC236}">
                <a16:creationId xmlns:a16="http://schemas.microsoft.com/office/drawing/2014/main" id="{D2BDFCF2-0E18-02DB-4FAD-10A109BBA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7" y="2500071"/>
            <a:ext cx="3682590" cy="367212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A01F801-9F17-17A2-85FB-863375C31A74}"/>
              </a:ext>
            </a:extLst>
          </p:cNvPr>
          <p:cNvSpPr/>
          <p:nvPr/>
        </p:nvSpPr>
        <p:spPr>
          <a:xfrm>
            <a:off x="3792511" y="2113613"/>
            <a:ext cx="779489" cy="24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14674B-3B10-B47D-8D1F-F44C74E7F72B}"/>
              </a:ext>
            </a:extLst>
          </p:cNvPr>
          <p:cNvSpPr/>
          <p:nvPr/>
        </p:nvSpPr>
        <p:spPr>
          <a:xfrm>
            <a:off x="5942153" y="2069237"/>
            <a:ext cx="779489" cy="24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8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2AF6-1EC7-1C9A-0E89-ACECCFC2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A7E7E4-00E3-599A-4306-18B7AC02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Selection of PCB Sensors</a:t>
            </a:r>
            <a:endParaRPr lang="en-US" sz="33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E74DCC-ADB8-2A74-106B-53D36E84DE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Finalized Part Selections with Footprints and Metrics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0FD4A-0CBC-E96D-252C-75473E2F2E5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9/13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8A93B-2E8D-E0EB-DAD8-33D81CC2A386}"/>
              </a:ext>
            </a:extLst>
          </p:cNvPr>
          <p:cNvSpPr txBox="1"/>
          <p:nvPr/>
        </p:nvSpPr>
        <p:spPr>
          <a:xfrm>
            <a:off x="6994566" y="1631879"/>
            <a:ext cx="244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Strain Gauge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FE331-698B-CF62-F98F-94C5C87E91AF}"/>
              </a:ext>
            </a:extLst>
          </p:cNvPr>
          <p:cNvSpPr txBox="1"/>
          <p:nvPr/>
        </p:nvSpPr>
        <p:spPr>
          <a:xfrm>
            <a:off x="3884118" y="3966803"/>
            <a:ext cx="244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Charge Amplifier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759C6E4D-1525-F7EB-C6AB-95E6DAB53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" y="1318430"/>
            <a:ext cx="6858639" cy="1042322"/>
          </a:xfrm>
          <a:prstGeom prst="rect">
            <a:avLst/>
          </a:prstGeom>
        </p:spPr>
      </p:pic>
      <p:pic>
        <p:nvPicPr>
          <p:cNvPr id="11" name="Picture 10" descr="A blueprint of a computer chip&#10;&#10;AI-generated content may be incorrect.">
            <a:extLst>
              <a:ext uri="{FF2B5EF4-FFF2-40B4-BE49-F238E27FC236}">
                <a16:creationId xmlns:a16="http://schemas.microsoft.com/office/drawing/2014/main" id="{1A4CC6EC-7273-1DF7-1447-7F05AA847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7" y="2500071"/>
            <a:ext cx="3682590" cy="367212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C3A9AE9-2550-314A-E195-0AFB6422219A}"/>
              </a:ext>
            </a:extLst>
          </p:cNvPr>
          <p:cNvSpPr/>
          <p:nvPr/>
        </p:nvSpPr>
        <p:spPr>
          <a:xfrm>
            <a:off x="3792511" y="2113613"/>
            <a:ext cx="779489" cy="24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49C9E4-17E6-B9F4-2342-15CE8AE701F4}"/>
              </a:ext>
            </a:extLst>
          </p:cNvPr>
          <p:cNvSpPr/>
          <p:nvPr/>
        </p:nvSpPr>
        <p:spPr>
          <a:xfrm>
            <a:off x="5942153" y="2069237"/>
            <a:ext cx="779489" cy="24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2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8B41-DE68-918D-99AB-30330A82F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609424-3CE9-7050-C660-6945B4FA6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/>
              <a:t>Creation of Data Logger Executable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AEF47E-91B0-1BB6-4795-834DAE17F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30" y="2795390"/>
            <a:ext cx="3857681" cy="3153653"/>
          </a:xfrm>
          <a:prstGeom prst="rect">
            <a:avLst/>
          </a:prstGeom>
          <a:noFill/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46FE33-D875-881C-173D-09D0C3060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33" y="2795390"/>
            <a:ext cx="4069232" cy="3153653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5987B-58F9-F662-8EFD-89B45A74A6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Creation of Executable to Run on Mac/Windows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FB44-0E99-4955-D7BD-6C3BEA0199F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10/13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DA907C-3DD5-394A-73F6-1C410F132925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216911" y="4372217"/>
            <a:ext cx="5231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B9F989C-6D12-0DA9-6DEF-C783EC12FDDE}"/>
              </a:ext>
            </a:extLst>
          </p:cNvPr>
          <p:cNvSpPr txBox="1">
            <a:spLocks/>
          </p:cNvSpPr>
          <p:nvPr/>
        </p:nvSpPr>
        <p:spPr>
          <a:xfrm>
            <a:off x="342900" y="1543323"/>
            <a:ext cx="8450035" cy="110361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itchFamily="2" charset="2"/>
              <a:buChar char="§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7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None/>
              <a:defRPr sz="10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Issues with Data Logging need to be fixed with creation of remote executable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Tested Hosted Website Compatibility with </a:t>
            </a:r>
            <a:r>
              <a:rPr lang="en-US" dirty="0" err="1"/>
              <a:t>Omosalewa</a:t>
            </a:r>
            <a:r>
              <a:rPr lang="en-US" dirty="0"/>
              <a:t> last Friday</a:t>
            </a:r>
          </a:p>
        </p:txBody>
      </p:sp>
    </p:spTree>
    <p:extLst>
      <p:ext uri="{BB962C8B-B14F-4D97-AF65-F5344CB8AC3E}">
        <p14:creationId xmlns:p14="http://schemas.microsoft.com/office/powerpoint/2010/main" val="155217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67E3-3EC8-2F43-0F6A-EBF2C788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E81EE9-D1C7-D0B0-2112-AE1AC918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/>
              <a:t>Creation of Data Logger Executable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39C6BC-2EDE-8CD0-D25D-16F424FF03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Creation of Executable to Run on Mac/Windows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8F79B-C986-9937-7436-909AF04AE73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11/13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56AF7A3-B8CC-547C-601D-554EB1CF1188}"/>
              </a:ext>
            </a:extLst>
          </p:cNvPr>
          <p:cNvSpPr txBox="1">
            <a:spLocks/>
          </p:cNvSpPr>
          <p:nvPr/>
        </p:nvSpPr>
        <p:spPr>
          <a:xfrm>
            <a:off x="342900" y="1543323"/>
            <a:ext cx="8450035" cy="110361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itchFamily="2" charset="2"/>
              <a:buChar char="§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7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None/>
              <a:defRPr sz="10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Unsure what options are available with PMDs with Agriculture department: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Android/iOS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embedded iOS development in iOS/Android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React Native Frameworks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#1 (Expo Go), #2 (</a:t>
            </a:r>
            <a:r>
              <a:rPr lang="en-US" dirty="0" err="1"/>
              <a:t>NativeBase</a:t>
            </a:r>
            <a:r>
              <a:rPr lang="en-US" dirty="0"/>
              <a:t>/Base44)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Other Data Storage Options: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Cloud: GitHub (Subscription Required), AWS, Firebase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Local: Laptop/Server with SQLite for Database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Hybrid: Local Storage + (8 Hour Period x 3) Cloud Backups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Executable/App: Installable app logging data locally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Local iOS development as seen above</a:t>
            </a:r>
          </a:p>
        </p:txBody>
      </p:sp>
    </p:spTree>
    <p:extLst>
      <p:ext uri="{BB962C8B-B14F-4D97-AF65-F5344CB8AC3E}">
        <p14:creationId xmlns:p14="http://schemas.microsoft.com/office/powerpoint/2010/main" val="3500012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 over PCB to Mechanical + Agriculture Department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Write up instructions for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Figure out data storage problem with current executable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Blockers: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Shipment lead time for PCB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23604</TotalTime>
  <Words>560</Words>
  <Application>Microsoft Macintosh PowerPoint</Application>
  <PresentationFormat>On-screen Show (4:3)</PresentationFormat>
  <Paragraphs>98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Acumin Pro Medium</vt:lpstr>
      <vt:lpstr>Franklin Gothic Book</vt:lpstr>
      <vt:lpstr>Franklin Gothic Medium Cond</vt:lpstr>
      <vt:lpstr>Wingdings</vt:lpstr>
      <vt:lpstr>Acumin Pro</vt:lpstr>
      <vt:lpstr>Franklin Gothic Medium</vt:lpstr>
      <vt:lpstr>Acumin Pro Semibold</vt:lpstr>
      <vt:lpstr>Arial</vt:lpstr>
      <vt:lpstr>Acumin Pro Condensed Semibold</vt:lpstr>
      <vt:lpstr>Calibri</vt:lpstr>
      <vt:lpstr>Office Theme</vt:lpstr>
      <vt:lpstr>Week 15</vt:lpstr>
      <vt:lpstr>This Week</vt:lpstr>
      <vt:lpstr>PCB Invoice</vt:lpstr>
      <vt:lpstr>Selection of PCB Sensors</vt:lpstr>
      <vt:lpstr>Selection of PCB Sensors</vt:lpstr>
      <vt:lpstr>Selection of PCB Sensors</vt:lpstr>
      <vt:lpstr>Selection of PCB Sensors</vt:lpstr>
      <vt:lpstr>Selection of PCB Sensors</vt:lpstr>
      <vt:lpstr>Selection of PCB Sensors</vt:lpstr>
      <vt:lpstr>Creation of Data Logger Executable</vt:lpstr>
      <vt:lpstr>Creation of Data Logger Executable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58</cp:revision>
  <dcterms:created xsi:type="dcterms:W3CDTF">2023-02-16T02:16:06Z</dcterms:created>
  <dcterms:modified xsi:type="dcterms:W3CDTF">2025-12-12T16:08:47Z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