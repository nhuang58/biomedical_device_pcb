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8"/>
  </p:notesMasterIdLst>
  <p:sldIdLst>
    <p:sldId id="267" r:id="rId5"/>
    <p:sldId id="279" r:id="rId6"/>
    <p:sldId id="294" r:id="rId7"/>
    <p:sldId id="301" r:id="rId8"/>
    <p:sldId id="304" r:id="rId9"/>
    <p:sldId id="305" r:id="rId10"/>
    <p:sldId id="306" r:id="rId11"/>
    <p:sldId id="298" r:id="rId12"/>
    <p:sldId id="299" r:id="rId13"/>
    <p:sldId id="300" r:id="rId14"/>
    <p:sldId id="303" r:id="rId15"/>
    <p:sldId id="297" r:id="rId16"/>
    <p:sldId id="277" r:id="rId17"/>
  </p:sldIdLst>
  <p:sldSz cx="9144000" cy="6858000" type="screen4x3"/>
  <p:notesSz cx="6858000" cy="9144000"/>
  <p:embeddedFontLst>
    <p:embeddedFont>
      <p:font typeface="Acumin Pro" panose="020B0504020202020204" pitchFamily="34" charset="0"/>
      <p:regular r:id="rId19"/>
      <p:bold r:id="rId20"/>
      <p:italic r:id="rId21"/>
      <p:boldItalic r:id="rId22"/>
    </p:embeddedFont>
    <p:embeddedFont>
      <p:font typeface="Acumin Pro Condensed Semibold" panose="020B0604020202020204" charset="0"/>
      <p:regular r:id="rId23"/>
      <p:bold r:id="rId24"/>
      <p:italic r:id="rId25"/>
      <p:boldItalic r:id="rId26"/>
    </p:embeddedFont>
    <p:embeddedFont>
      <p:font typeface="Acumin Pro Medium" panose="020B0604020202020204" charset="0"/>
      <p:regular r:id="rId27"/>
      <p:italic r:id="rId28"/>
    </p:embeddedFont>
    <p:embeddedFont>
      <p:font typeface="Franklin Gothic Book" panose="020B0503020102020204" pitchFamily="34" charset="0"/>
      <p:regular r:id="rId29"/>
      <p:italic r:id="rId30"/>
    </p:embeddedFont>
    <p:embeddedFont>
      <p:font typeface="Franklin Gothic Medium" panose="020B0603020102020204" pitchFamily="34" charset="0"/>
      <p:regular r:id="rId31"/>
      <p:italic r:id="rId32"/>
    </p:embeddedFont>
    <p:embeddedFont>
      <p:font typeface="Franklin Gothic Medium Cond" panose="020B0606030402020204" pitchFamily="3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464"/>
    <p:restoredTop sz="95884"/>
  </p:normalViewPr>
  <p:slideViewPr>
    <p:cSldViewPr snapToGrid="0">
      <p:cViewPr varScale="1">
        <p:scale>
          <a:sx n="117" d="100"/>
          <a:sy n="117" d="100"/>
        </p:scale>
        <p:origin x="1032" y="102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www.digikey.com/en/products/detail/jameco-electronics/LJ503035/25966108?s=N4IgTCBcDaIDIEsAKB7ABAVgAwGZcZAF0BfIA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dafruit.com/product/3814" TargetMode="External"/><Relationship Id="rId7" Type="http://schemas.openxmlformats.org/officeDocument/2006/relationships/image" Target="../media/image12.png"/><Relationship Id="rId2" Type="http://schemas.openxmlformats.org/officeDocument/2006/relationships/hyperlink" Target="https://www.adafruit.com/product/5755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littleguyracingparts.com/products/furitek-3-pin-male-jst-ph-to-2-pin-female-jst-ph-conversion-cable?srsltid=AfmBOorUO0EG_LO-lLTLN5k2TT8NgOsOwBUe_4FZ0YgMU1aNPV29VtFq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coolerguys.com/products/2pin-fan-to-gpio-female-dupont-adapter-cable?variant=32908405407840&amp;country=US&amp;currency=USD&amp;utm_medium=product_sync&amp;utm_source=google&amp;utm_content=sag_organic&amp;utm_campaign=sag_organic&amp;gad_source=1&amp;gad_campaignid=21398396600&amp;gbraid=0AAAAAD_hhKJPcMx7aWXSTuQvIVgG25z_C&amp;gclid=Cj0KCQjwjIPSBhCCARIsABGyK7vEh7aCsLzgwk_2yiF8Lsrt-GVI7ZnW2xmrlc2YP3HbilzNubZahtMaAm4CEALw_wcB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coolerguys.com/products/2pin-fan-to-gpio-female-dupont-adapter-cable?variant=32908405407840&amp;country=US&amp;currency=USD&amp;utm_medium=product_sync&amp;utm_source=google&amp;utm_content=sag_organic&amp;utm_campaign=sag_organic&amp;gad_source=1&amp;gad_campaignid=21398396600&amp;gbraid=0AAAAAD_hhKJPcMx7aWXSTuQvIVgG25z_C&amp;gclid=Cj0KCQjwjIPSBhCCARIsABGyK7vEh7aCsLzgwk_2yiF8Lsrt-GVI7ZnW2xmrlc2YP3HbilzNubZahtMaAm4CEALw_wcB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latin typeface="Acumin Pro Condensed Semibold" panose="020B0604020202020204" charset="0"/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06/29/26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Acumin Pro Condensed Semibold" panose="020B0604020202020204" charset="0"/>
              </a:rPr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3"/>
            <a:ext cx="8450035" cy="455743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Arranging a time to meeting with Pedro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Firmware Changes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New Firmware flashed onto Arduino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Demo of Current Progress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Improvements Made (1)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Improvements Made (2)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Supply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Initial Issue with Cabling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Proposed Solution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Purchased Solution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Pending Request in 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Goals for next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B17BE6-9D4C-7A0D-A9BF-0CE71CF3E4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Arranging a time to meeting with Pedro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387A5-D6D0-1A85-EE25-587273EC19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stated last week, Pedro Barbosa is a PhD candidate in Industrial Engineering (IE)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further authorization is needed, he just needs to let me into the facility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Says the Piezoelectric testing of the system is feasible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Requested a detail diagram of the system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Still working on 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Likely we will meet after the 4</a:t>
            </a:r>
            <a:r>
              <a:rPr lang="en-US" baseline="30000" dirty="0"/>
              <a:t>th</a:t>
            </a:r>
            <a:r>
              <a:rPr lang="en-US" dirty="0"/>
              <a:t> of July weekend (7/6)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keep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8D5F1B-22D0-796A-B578-AF1B7786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Testing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4B882-D79B-D2C6-E251-9AFF943BCD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247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0BF379-3727-6380-3772-4B26CBBB09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New Firmware flashed onto Arduino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FC574-88EE-1FCC-48A9-732B6478D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 code to test all sensors connecting to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Reduced all unnecessary links in code to reduce bugs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889F40-3BB1-3372-78D3-6DCD9793A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Firmware Changes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E07C4-3FF9-B3E0-51DF-4FDA965DB5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F88AA5-005B-D916-867D-58C8A60AC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545" y="2390534"/>
            <a:ext cx="4972744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3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B83513-DDDD-99B3-18AF-2280A6430C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Demo of Current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2DC29-3D18-5B6E-C83D-B4700475CD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Video of Logging: https://www.youtube.com/watch?v=GDCnnC6DZ4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D444C7-D5D8-0F66-BCA8-2C510C2A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Changes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87A7F-EB6A-033F-49DF-3D749DA25AB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352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A8596-4441-859F-ABED-6399BB6EA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FD2D2C-D1EF-E89C-A110-54DAB94320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Improvements Made (1)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C30F4-C3AE-1027-22F7-7D535A5C77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Logger time frame now only exports the needed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Device UUID is now characterized so it is easy to identify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Previous Bugs: was calling database from all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Code seen below: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B182F5-4312-FC2A-2688-3D562FA64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Changes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B2038-728B-94CF-6323-58DCE0373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9C3C04-B3D2-25B9-C641-746309225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54" y="3091144"/>
            <a:ext cx="6630325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82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D4720-C3C5-E873-C061-E860FE31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27F85A-BF6C-F741-2A2A-B33CA8838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Improvements Made (1)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BC851-D4DF-9A1C-1483-39B07BFBCD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Backend Database Package has full integrity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entries packaged and 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 simple, light test app </a:t>
            </a:r>
            <a:r>
              <a:rPr lang="en-US"/>
              <a:t>to verify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2E8874-4DDF-59D8-713E-10B20437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Changes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4D665-4D3F-DE89-2FDF-A442C55EE05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40ED55-46F2-5CEA-EC73-7B5FE8E84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969" y="2089601"/>
            <a:ext cx="2764757" cy="381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17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A8972-024F-6508-829A-5D07A51293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Initial Issue with Cabling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6A9A3-D208-0E6E-972C-A09A676EBB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899" y="1580201"/>
            <a:ext cx="8450035" cy="445470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presented last week, the Battery is a JST PH 2 Pin </a:t>
            </a:r>
            <a:r>
              <a:rPr lang="en-US" b="1" dirty="0"/>
              <a:t>Female</a:t>
            </a:r>
            <a:r>
              <a:rPr lang="en-US" dirty="0"/>
              <a:t> Cable: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https://www.digikey.com/en/products/detail/jameco-electronics/LJ503035/25966108?s=N4IgTCBcDaIDIEsAKB7ABAVgAwGZcZAF0BfIA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cable needs to connect a JST PH 2 Pin </a:t>
            </a:r>
            <a:r>
              <a:rPr lang="en-US" b="1" dirty="0"/>
              <a:t>Male</a:t>
            </a:r>
            <a:r>
              <a:rPr lang="en-US" dirty="0"/>
              <a:t> → Single Pin DuPont Casing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These do not commercially exist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2CE14C-3177-E3C6-4822-78766A00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B3C23-8D28-DE2D-C62E-8D591A0B9D6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2/8</a:t>
            </a:r>
          </a:p>
        </p:txBody>
      </p:sp>
      <p:pic>
        <p:nvPicPr>
          <p:cNvPr id="6" name="Picture 5" descr="Battery Rechargeable (Secondary)">
            <a:extLst>
              <a:ext uri="{FF2B5EF4-FFF2-40B4-BE49-F238E27FC236}">
                <a16:creationId xmlns:a16="http://schemas.microsoft.com/office/drawing/2014/main" id="{F1E70DEB-CF75-3DD1-C34D-7A2E13702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3289044"/>
            <a:ext cx="1905000" cy="1905000"/>
          </a:xfrm>
          <a:prstGeom prst="rect">
            <a:avLst/>
          </a:prstGeom>
        </p:spPr>
      </p:pic>
      <p:pic>
        <p:nvPicPr>
          <p:cNvPr id="7" name="Picture 6" descr="2 Position Cable Assembly Rectangular Plug to Individual Wire Leads 0.656' (200.00mm, 7.87&quot;)">
            <a:extLst>
              <a:ext uri="{FF2B5EF4-FFF2-40B4-BE49-F238E27FC236}">
                <a16:creationId xmlns:a16="http://schemas.microsoft.com/office/drawing/2014/main" id="{7BB2D6A8-2269-BD8F-DC6F-BF7DCCCF4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417" y="3486150"/>
            <a:ext cx="1905000" cy="1905000"/>
          </a:xfrm>
          <a:prstGeom prst="rect">
            <a:avLst/>
          </a:prstGeom>
        </p:spPr>
      </p:pic>
      <p:pic>
        <p:nvPicPr>
          <p:cNvPr id="8" name="Picture 7" descr="2.54mm Pitch Female Headers - SCONDAR">
            <a:extLst>
              <a:ext uri="{FF2B5EF4-FFF2-40B4-BE49-F238E27FC236}">
                <a16:creationId xmlns:a16="http://schemas.microsoft.com/office/drawing/2014/main" id="{314A5800-3872-9C6F-A7DF-CC6AAD773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2419" y="3531932"/>
            <a:ext cx="2324100" cy="174307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58FE99-7EA0-9C24-44E0-38E84976BC7A}"/>
              </a:ext>
            </a:extLst>
          </p:cNvPr>
          <p:cNvCxnSpPr/>
          <p:nvPr/>
        </p:nvCxnSpPr>
        <p:spPr>
          <a:xfrm>
            <a:off x="2724150" y="4403469"/>
            <a:ext cx="73342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AE38D5-489C-8E52-266F-C75B4343244D}"/>
              </a:ext>
            </a:extLst>
          </p:cNvPr>
          <p:cNvCxnSpPr/>
          <p:nvPr/>
        </p:nvCxnSpPr>
        <p:spPr>
          <a:xfrm>
            <a:off x="5299981" y="4401625"/>
            <a:ext cx="73342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796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79E08A-4FD3-EA68-33BE-4C3AA2EC51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625F3-F03F-B74C-DFCB-2CF8F25AF5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lot of these wires </a:t>
            </a:r>
            <a:r>
              <a:rPr lang="en-US" dirty="0">
                <a:hlinkClick r:id="rId2"/>
              </a:rPr>
              <a:t>exist</a:t>
            </a:r>
            <a:r>
              <a:rPr lang="en-US" dirty="0"/>
              <a:t>, but none fit the given specification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Seen below</a:t>
            </a:r>
            <a:r>
              <a:rPr lang="en-US" dirty="0"/>
              <a:t>, one of these ends is always wrong or not specified with the correct header casing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approach is to use the right picture and connect a </a:t>
            </a:r>
            <a:r>
              <a:rPr lang="en-US" dirty="0">
                <a:hlinkClick r:id="rId4"/>
              </a:rPr>
              <a:t>3-pin male header → 2 pin male header</a:t>
            </a:r>
            <a:r>
              <a:rPr lang="en-US" dirty="0"/>
              <a:t>, as seen below, but we would lose a lot of signal integrity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A890D8-38BC-737E-2454-9DF3743E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Supply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25A3-B523-8791-8782-FB8349DDD1F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EF085C-7CB4-66F2-5DB5-3DD474CE6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981" y="4522286"/>
            <a:ext cx="5219019" cy="2096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8EAFE3-9604-37A7-E233-9C31373F9B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064" y="4069793"/>
            <a:ext cx="2987526" cy="19282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306EDE-1216-67A3-CDF7-C74E18F76B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0968" y="3168112"/>
            <a:ext cx="2022570" cy="137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87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8FF36B-651C-9572-A167-1F25B76D57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Purchased Solution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A5B72-4829-689E-B04D-5C58E8EDF2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 think is the best solution is to use an alternative cable with no adverse effects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GPIO header on most boards uses the same connector, so we can take advantage of that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dirty="0">
                <a:hlinkClick r:id="rId2"/>
              </a:rPr>
              <a:t>version</a:t>
            </a:r>
            <a:r>
              <a:rPr lang="en-US" dirty="0"/>
              <a:t> of the DuPont header to </a:t>
            </a:r>
            <a:r>
              <a:rPr lang="en-US" u="sng" dirty="0"/>
              <a:t>GPIO</a:t>
            </a:r>
            <a:r>
              <a:rPr lang="en-US" dirty="0"/>
              <a:t> 2 JST Pin Male Header exists, which is exactly what we need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might run into signal integrity issues, but there will be no connectivity issues. This version is also short (as the Agriculture department requested)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51768E-DCEC-5979-692E-539682445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16392-893B-6CBC-709C-76F006A0382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A09325-D3E1-A4BC-4155-DE2C94976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8" y="4306163"/>
            <a:ext cx="1833759" cy="1597546"/>
          </a:xfrm>
          <a:prstGeom prst="rect">
            <a:avLst/>
          </a:prstGeom>
        </p:spPr>
      </p:pic>
      <p:pic>
        <p:nvPicPr>
          <p:cNvPr id="10" name="Picture 9" descr="2pin Fan to GPIO (Female Dupont) Adapter Cable - Coolerguys">
            <a:extLst>
              <a:ext uri="{FF2B5EF4-FFF2-40B4-BE49-F238E27FC236}">
                <a16:creationId xmlns:a16="http://schemas.microsoft.com/office/drawing/2014/main" id="{FE987CBA-4B66-9626-A48A-7050A83C8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293332" y="3600320"/>
            <a:ext cx="2086348" cy="298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923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359ED2-157D-0813-AE0C-E643ACEAD2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Pending Request in CIO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DDD64-E52A-E456-3D86-1C792A73BD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Purchase Links 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2 Pin Male JST to 2 Separate Female Headers</a:t>
            </a:r>
            <a:r>
              <a:rPr lang="en-US" dirty="0"/>
              <a:t> (10)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2-PIN Male JST to 2 Wires (10)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Female Header to Female Header 5 cm (20)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Requested through Purdue CIO (2) Requests): Waiting on Approval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68C374-E7ED-31B0-DA2C-FABE8D3D1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6D330-1212-A339-B5BA-A141C30277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00EF1A-140E-7C1C-DB5F-EB6FFC9CE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88" y="3145987"/>
            <a:ext cx="2766181" cy="27577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B1F1B1-4EE4-89B8-5F2A-BC37A33EE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741" y="3145987"/>
            <a:ext cx="3119848" cy="27577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F4BA60-20A7-2CC2-21AC-9E63892D6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1035" y="1735225"/>
            <a:ext cx="3616556" cy="86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32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906C6D-FC50-8590-63C1-71685CCA64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Goals for next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A2F54-1ABF-E520-B82B-EAB7AFF8CC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Finish System characterization and diagram for Pedro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shipment is approved and gets sent to Professor Karcher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Ideate changes for Nicla backpack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22A3F4-B598-1D52-833A-78F75CFC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79E9-6F6C-7B56-C52C-13E002C3B7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733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schemas.microsoft.com/office/2006/documentManagement/types"/>
    <ds:schemaRef ds:uri="37af3f4b-4b66-46f9-8456-831d9bc3e737"/>
    <ds:schemaRef ds:uri="http://schemas.microsoft.com/office/2006/metadata/properties"/>
    <ds:schemaRef ds:uri="http://www.w3.org/XML/1998/namespace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d6656b4d-3fa0-4709-acfb-d5e813445d1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35523</TotalTime>
  <Words>581</Words>
  <Application>Microsoft Office PowerPoint</Application>
  <PresentationFormat>On-screen Show (4:3)</PresentationFormat>
  <Paragraphs>95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Acumin Pro Medium</vt:lpstr>
      <vt:lpstr>Arial</vt:lpstr>
      <vt:lpstr>Acumin Pro</vt:lpstr>
      <vt:lpstr>Franklin Gothic Medium</vt:lpstr>
      <vt:lpstr>Acumin Pro Condensed Semibold</vt:lpstr>
      <vt:lpstr>Calibri</vt:lpstr>
      <vt:lpstr>Franklin Gothic Medium Cond</vt:lpstr>
      <vt:lpstr>Acumin Pro Semibold</vt:lpstr>
      <vt:lpstr>Wingdings</vt:lpstr>
      <vt:lpstr>Franklin Gothic Book</vt:lpstr>
      <vt:lpstr>Office Theme</vt:lpstr>
      <vt:lpstr>Week 6</vt:lpstr>
      <vt:lpstr>This Week</vt:lpstr>
      <vt:lpstr>Testing Updates</vt:lpstr>
      <vt:lpstr>Firmware Changes</vt:lpstr>
      <vt:lpstr>Database Changes</vt:lpstr>
      <vt:lpstr>Database Changes</vt:lpstr>
      <vt:lpstr>Database Changes</vt:lpstr>
      <vt:lpstr>Supply Updates</vt:lpstr>
      <vt:lpstr>Supply Updates</vt:lpstr>
      <vt:lpstr>Supply Updates</vt:lpstr>
      <vt:lpstr>Supply Updates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121</cp:revision>
  <cp:lastPrinted>2026-05-25T08:08:19Z</cp:lastPrinted>
  <dcterms:created xsi:type="dcterms:W3CDTF">2023-02-16T02:16:06Z</dcterms:created>
  <dcterms:modified xsi:type="dcterms:W3CDTF">2026-07-13T12:04:02Z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