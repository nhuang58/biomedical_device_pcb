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8"/>
  </p:notesMasterIdLst>
  <p:sldIdLst>
    <p:sldId id="267" r:id="rId5"/>
    <p:sldId id="279" r:id="rId6"/>
    <p:sldId id="280" r:id="rId7"/>
    <p:sldId id="290" r:id="rId8"/>
    <p:sldId id="291" r:id="rId9"/>
    <p:sldId id="292" r:id="rId10"/>
    <p:sldId id="293" r:id="rId11"/>
    <p:sldId id="294" r:id="rId12"/>
    <p:sldId id="295" r:id="rId13"/>
    <p:sldId id="296" r:id="rId14"/>
    <p:sldId id="285" r:id="rId15"/>
    <p:sldId id="278" r:id="rId16"/>
    <p:sldId id="277" r:id="rId17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9"/>
      <p:bold r:id="rId20"/>
      <p:italic r:id="rId21"/>
      <p:boldItalic r:id="rId22"/>
    </p:embeddedFont>
    <p:embeddedFont>
      <p:font typeface="Acumin Pro Medium" panose="020B0604020202020204" pitchFamily="34" charset="77"/>
      <p:regular r:id="rId23"/>
      <p:italic r:id="rId24"/>
    </p:embeddedFont>
    <p:embeddedFont>
      <p:font typeface="Franklin Gothic Book" panose="020B0503020102020204" pitchFamily="34" charset="0"/>
      <p:regular r:id="rId25"/>
      <p:italic r:id="rId26"/>
    </p:embeddedFont>
    <p:embeddedFont>
      <p:font typeface="Franklin Gothic Medium" panose="020B0603020102020204" pitchFamily="34" charset="0"/>
      <p:regular r:id="rId27"/>
      <p:italic r:id="rId28"/>
    </p:embeddedFont>
    <p:embeddedFont>
      <p:font typeface="Franklin Gothic Medium Cond" panose="020B0606030402020204" pitchFamily="3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865"/>
    <p:restoredTop sz="94597"/>
  </p:normalViewPr>
  <p:slideViewPr>
    <p:cSldViewPr snapToGrid="0">
      <p:cViewPr varScale="1">
        <p:scale>
          <a:sx n="107" d="100"/>
          <a:sy n="107" d="100"/>
        </p:scale>
        <p:origin x="912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user.com/c/sensors/force-sensors-load-cells/?operating%20supply%20voltage=3.3%20V&amp;sensor%20type=Force%20Sensor" TargetMode="External"/><Relationship Id="rId2" Type="http://schemas.openxmlformats.org/officeDocument/2006/relationships/hyperlink" Target="https://www.mouser.com/c/sensors/force-sensors-load-cells/?operating%20force=20%20N&amp;output%20type=Analog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5361756.fs1.hubspotusercontent-na1.net/hubfs/5361756/SingleTact%20Documents/SingleTact_Datasheet.pdf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14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 App Development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Data logger works without need of constrained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Study on Resistive vs. Capacitive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Rev. 2 PCB Started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Component placement on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45659EC-1C0D-C3E4-2D40-328DB3AAC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9" y="2787155"/>
            <a:ext cx="4435422" cy="2849759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i="1" kern="1200" cap="none" baseline="0">
                <a:latin typeface="Acumin Pro Condensed Semibold" panose="020B0506020202020204" pitchFamily="34" charset="77"/>
                <a:ea typeface="+mj-ea"/>
                <a:cs typeface="+mj-cs"/>
              </a:rPr>
              <a:t>Web App Development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b="1" i="0" kern="1200" baseline="0">
                <a:latin typeface="Acumin Pro Condensed Semibold" panose="020B0506020202020204" pitchFamily="34" charset="77"/>
                <a:ea typeface="+mn-ea"/>
                <a:cs typeface="+mn-cs"/>
              </a:rPr>
              <a:t>Data logger locally hosted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114652E-DDA4-65A6-F0C1-BF80F199B159}"/>
              </a:ext>
            </a:extLst>
          </p:cNvPr>
          <p:cNvSpPr txBox="1">
            <a:spLocks/>
          </p:cNvSpPr>
          <p:nvPr/>
        </p:nvSpPr>
        <p:spPr>
          <a:xfrm>
            <a:off x="334737" y="1643074"/>
            <a:ext cx="4308874" cy="4307571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Website now live at: </a:t>
            </a:r>
          </a:p>
          <a:p>
            <a:r>
              <a:rPr lang="en-US" b="1" dirty="0"/>
              <a:t>https://nhuang58.github.io/</a:t>
            </a:r>
            <a:r>
              <a:rPr lang="en-US" b="1" dirty="0" err="1"/>
              <a:t>Biomedical_Device_PCB</a:t>
            </a:r>
            <a:r>
              <a:rPr lang="en-US" b="1" dirty="0"/>
              <a:t>/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Can be locally hosted, no need for a server</a:t>
            </a:r>
          </a:p>
          <a:p>
            <a:pPr marL="171450" lvl="1" indent="-171450">
              <a:spcBef>
                <a:spcPts val="750"/>
              </a:spcBef>
              <a:buFont typeface="Wingdings" pitchFamily="2" charset="2"/>
              <a:buChar char="§"/>
            </a:pPr>
            <a:r>
              <a:rPr lang="en-US" sz="1800" dirty="0">
                <a:latin typeface="Acumin Pro" panose="020B0504020202020204" pitchFamily="34" charset="77"/>
              </a:rPr>
              <a:t>Data needs to be pulled when collection complete</a:t>
            </a:r>
          </a:p>
          <a:p>
            <a:pPr marL="171450" lvl="1" indent="-171450">
              <a:spcBef>
                <a:spcPts val="750"/>
              </a:spcBef>
              <a:buFont typeface="Wingdings" pitchFamily="2" charset="2"/>
              <a:buChar char="§"/>
            </a:pPr>
            <a:r>
              <a:rPr lang="en-US" sz="1800" dirty="0">
                <a:latin typeface="Acumin Pro" panose="020B0504020202020204" pitchFamily="34" charset="77"/>
              </a:rPr>
              <a:t>Unsure if bandwidth will be an issue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Working on compatibility with hardware (iPads)</a:t>
            </a:r>
          </a:p>
          <a:p>
            <a:pPr marL="171450" lvl="1" indent="-171450">
              <a:spcBef>
                <a:spcPts val="750"/>
              </a:spcBef>
              <a:buFont typeface="Wingdings" pitchFamily="2" charset="2"/>
              <a:buChar char="§"/>
            </a:pPr>
            <a:r>
              <a:rPr lang="en-US" sz="1800" dirty="0">
                <a:latin typeface="Acumin Pro" panose="020B0504020202020204" pitchFamily="34" charset="77"/>
              </a:rPr>
              <a:t>Determine if iPads are realistic to run with BLE, or another approach is needed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6D614A79-1155-6B8B-D90E-FE76A9C928A9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Live website: https://nhuang58.github.io/</a:t>
            </a:r>
            <a:r>
              <a:rPr lang="en-US" dirty="0" err="1"/>
              <a:t>Biomedical_Device_PCB</a:t>
            </a:r>
            <a:r>
              <a:rPr lang="en-US" dirty="0"/>
              <a:t>/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3/7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5C9D-9048-9692-1D7A-D1A2334C1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BFC69F-6930-6387-E6FA-EED2352744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 Main Sources for Research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B38C6D-5BC0-E067-5928-DC6316F9E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0ADF-EA18-0D83-F463-284C31132CA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1486AA-B387-90FF-8068-2AD44F1BF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Digi-Key Electronics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Mouser Electronics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Interlink Electronics (Contacted)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22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C3EB3-46C5-68F9-AC42-256145624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60DE10-E695-6D9D-5FFA-A834460560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Digi-Key Electronics: 1-800-344-4539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39C186-28E2-43B8-2174-ED3273DC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5D8D-1A3C-DD5A-5F52-C240944049E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6AC766-6674-E4E4-BD6B-0448EC95DD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vs. Capacitive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Strain Gauge – Resistive: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CEA-05-250-A350 ($18.00)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(.45 x .18 inches)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Force Gauge – Only Resistive Options: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Load Cell Device: Based on Pressure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Used in scales, weight, etc.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3917-GHB-10-ND ($5.86) 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12 mm diameter (round area)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K-011-0400-80-NE2-K1-G1 ($130.87)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12 mm diameter (round area)</a:t>
            </a:r>
          </a:p>
        </p:txBody>
      </p:sp>
    </p:spTree>
    <p:extLst>
      <p:ext uri="{BB962C8B-B14F-4D97-AF65-F5344CB8AC3E}">
        <p14:creationId xmlns:p14="http://schemas.microsoft.com/office/powerpoint/2010/main" val="1010023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3B63D-0A01-4BBC-01A5-C792A8CE7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F87C76-1D26-0FC9-3EA9-F690FD8DF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Mouser Electronics: 1-817-804-3888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9A2E8A-D501-2DA1-25F6-43E12D5F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3662-C6B8-42A0-DFD5-DE7F0154F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08A45-16F3-9BD2-18D0-6D13F3B09F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vs. Capacitive Sensors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Unable to assist with applications due to viability concerns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Force Gauge: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https://www.mouser.com/c/sensors/force-sensors-load-cells/?operating%20force=20%20N&amp;output%20type=Analog</a:t>
            </a:r>
            <a:endParaRPr lang="en-US" dirty="0"/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Higher end product (~$90-110)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Load Cells are commonly used, almost entirely resistive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Not many options for capacitive sensors in Mouser’s arsenal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Strain Gauge: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Mouser PN: 485-4542 ($3.95 per unit)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Very cheap unit cost for resistive vs. capacitive units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However, only capacitive sensors are reliably capable at running at 3.3 V supply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https://www.mouser.com/c/sensors/force-sensors-load-cells/?operating%20supply%20voltage=3.3%20V&amp;sensor%20type=Force%20Sensor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Middle end cost (~$30-50)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361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AD1A-2E4D-47F6-E456-4B00492AF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247E1D-1951-869C-7B96-2C52A6130B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Final Sensor Selections (Force + Strain)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20DE0E-BBB7-5402-C4DA-CCC178F33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F25A5-6814-AC7A-E164-4B0F668E24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AC2D78-E525-5EA4-CA04-68BC91124D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Force Sensor (Capacitive Sensor + Charge Amplifier)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Force Sensor: </a:t>
            </a:r>
            <a:r>
              <a:rPr lang="en-US" b="1" dirty="0" err="1"/>
              <a:t>SingleTact</a:t>
            </a:r>
            <a:r>
              <a:rPr lang="en-US" b="1" dirty="0"/>
              <a:t> Force Sensor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>
                <a:hlinkClick r:id="rId2"/>
              </a:rPr>
              <a:t>https://5361756.fs1.hubspotusercontent-na1.net/hubfs/5361756/SingleTact%20Documents/SingleTact_Datasheet.pdf</a:t>
            </a:r>
            <a:r>
              <a:rPr lang="en-US" dirty="0"/>
              <a:t>?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Charge Amplifier: </a:t>
            </a:r>
            <a:r>
              <a:rPr lang="en-US" b="1" dirty="0"/>
              <a:t>AD7150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https://</a:t>
            </a:r>
            <a:r>
              <a:rPr lang="en-US" dirty="0" err="1"/>
              <a:t>www.analog.com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/products/ad7150.html?utm_source=</a:t>
            </a:r>
            <a:r>
              <a:rPr lang="en-US" dirty="0" err="1"/>
              <a:t>chatgpt.com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221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932EAA-BC6E-B2F6-3A55-F7F4546C3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sz="3300"/>
              <a:t>Case Study on Resistive vs. Capacitive Sensors</a:t>
            </a:r>
          </a:p>
        </p:txBody>
      </p:sp>
      <p:pic>
        <p:nvPicPr>
          <p:cNvPr id="6" name="Picture 5" descr="A diagram of a yellow object with a point and a point&#10;&#10;AI-generated content may be incorrect.">
            <a:extLst>
              <a:ext uri="{FF2B5EF4-FFF2-40B4-BE49-F238E27FC236}">
                <a16:creationId xmlns:a16="http://schemas.microsoft.com/office/drawing/2014/main" id="{77282762-2E9F-2C4E-886B-1A7E9D814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3" r="8403" b="3"/>
          <a:stretch>
            <a:fillRect/>
          </a:stretch>
        </p:blipFill>
        <p:spPr>
          <a:xfrm>
            <a:off x="351065" y="1543324"/>
            <a:ext cx="4059877" cy="4390338"/>
          </a:xfrm>
          <a:prstGeom prst="rect">
            <a:avLst/>
          </a:prstGeom>
          <a:noFill/>
        </p:spPr>
      </p:pic>
      <p:pic>
        <p:nvPicPr>
          <p:cNvPr id="7" name="Picture 6" descr="A diagram of a small microchip&#10;&#10;AI-generated content may be incorrect.">
            <a:extLst>
              <a:ext uri="{FF2B5EF4-FFF2-40B4-BE49-F238E27FC236}">
                <a16:creationId xmlns:a16="http://schemas.microsoft.com/office/drawing/2014/main" id="{905F2776-228B-73B7-E1E0-01286C8742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51" r="14990" b="-4"/>
          <a:stretch>
            <a:fillRect/>
          </a:stretch>
        </p:blipFill>
        <p:spPr>
          <a:xfrm>
            <a:off x="4731868" y="1543324"/>
            <a:ext cx="4069232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4D6162-0FB8-3F0B-8062-475E26329B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Relative Sizing of Force Sensor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B1B52-7636-6472-A629-82084473AB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1A9C78-7086-A26B-6586-D12CDA626344}"/>
              </a:ext>
            </a:extLst>
          </p:cNvPr>
          <p:cNvSpPr txBox="1"/>
          <p:nvPr/>
        </p:nvSpPr>
        <p:spPr>
          <a:xfrm>
            <a:off x="1406769" y="5809957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Force Gauge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12F9A-577F-7710-1DD1-AD20E33FD3B9}"/>
              </a:ext>
            </a:extLst>
          </p:cNvPr>
          <p:cNvSpPr txBox="1"/>
          <p:nvPr/>
        </p:nvSpPr>
        <p:spPr>
          <a:xfrm>
            <a:off x="5863883" y="5787603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Charge Amplifier</a:t>
            </a:r>
          </a:p>
        </p:txBody>
      </p:sp>
    </p:spTree>
    <p:extLst>
      <p:ext uri="{BB962C8B-B14F-4D97-AF65-F5344CB8AC3E}">
        <p14:creationId xmlns:p14="http://schemas.microsoft.com/office/powerpoint/2010/main" val="1611386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6CA40-1DEC-513C-7804-F52CB072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FAA087-214C-DB66-33EF-AB8450BD64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Final Sensor Selections (Force + Strain)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3047A-8F0F-9039-5013-99EF91DC5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CC4C4-F709-6D1D-417A-A618A9CA552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CC6E24-94EE-D4E9-DF23-BC692916A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Strain Sensor (Resistive Sensor + Wheatstone Bridge)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Resistive Sensor: </a:t>
            </a:r>
            <a:r>
              <a:rPr lang="en-US" b="1" dirty="0"/>
              <a:t>C4A-06-125SLA-120-39P 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https://</a:t>
            </a:r>
            <a:r>
              <a:rPr lang="en-US" dirty="0" err="1"/>
              <a:t>mm.digikey.com</a:t>
            </a:r>
            <a:r>
              <a:rPr lang="en-US" dirty="0"/>
              <a:t>/Volume0/</a:t>
            </a:r>
            <a:r>
              <a:rPr lang="en-US" dirty="0" err="1"/>
              <a:t>opasdata</a:t>
            </a:r>
            <a:r>
              <a:rPr lang="en-US" dirty="0"/>
              <a:t>/d220001/medias/docus/696/125SL.pdf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Charge Amplifier: </a:t>
            </a:r>
            <a:r>
              <a:rPr lang="en-US" b="1" dirty="0"/>
              <a:t>INA333AIDGKT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https://</a:t>
            </a:r>
            <a:r>
              <a:rPr lang="en-US" dirty="0" err="1"/>
              <a:t>www.digikey.com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/products/detail/</a:t>
            </a:r>
            <a:r>
              <a:rPr lang="en-US" dirty="0" err="1"/>
              <a:t>texas</a:t>
            </a:r>
            <a:r>
              <a:rPr lang="en-US" dirty="0"/>
              <a:t>-instruments/INA333AIDGKT/1888785?</a:t>
            </a:r>
          </a:p>
        </p:txBody>
      </p:sp>
    </p:spTree>
    <p:extLst>
      <p:ext uri="{BB962C8B-B14F-4D97-AF65-F5344CB8AC3E}">
        <p14:creationId xmlns:p14="http://schemas.microsoft.com/office/powerpoint/2010/main" val="381561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37824-3649-9DF8-027A-1B0F47B29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3D6472-8934-877D-998E-7820C789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sz="3300"/>
              <a:t>Case Study on Resistive vs. Capacitive Sensors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BB3C36-0A21-90F3-06E2-A3D115A82C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Relative Sizing of Strain Sensor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D7D2A-E939-AC5F-347D-C0F28B35074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70E1F7-3CDB-AD23-8B94-9A94F88E3EF1}"/>
              </a:ext>
            </a:extLst>
          </p:cNvPr>
          <p:cNvSpPr txBox="1"/>
          <p:nvPr/>
        </p:nvSpPr>
        <p:spPr>
          <a:xfrm>
            <a:off x="342900" y="2535095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Strain Gauge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DB71E-87ED-CE4C-9E36-544FD175B157}"/>
              </a:ext>
            </a:extLst>
          </p:cNvPr>
          <p:cNvSpPr txBox="1"/>
          <p:nvPr/>
        </p:nvSpPr>
        <p:spPr>
          <a:xfrm>
            <a:off x="3639148" y="3825186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Charge Amplifier</a:t>
            </a: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07491A10-2E3C-1262-FEE2-1C3D987BA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27" y="1318429"/>
            <a:ext cx="8556811" cy="1300397"/>
          </a:xfrm>
          <a:prstGeom prst="rect">
            <a:avLst/>
          </a:prstGeom>
        </p:spPr>
      </p:pic>
      <p:pic>
        <p:nvPicPr>
          <p:cNvPr id="11" name="Picture 10" descr="A blueprint of a computer chip&#10;&#10;AI-generated content may be incorrect.">
            <a:extLst>
              <a:ext uri="{FF2B5EF4-FFF2-40B4-BE49-F238E27FC236}">
                <a16:creationId xmlns:a16="http://schemas.microsoft.com/office/drawing/2014/main" id="{D2BDFCF2-0E18-02DB-4FAD-10A109BBA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991" y="2618825"/>
            <a:ext cx="3530747" cy="352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987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Rev. 3 PCB Started</a:t>
            </a:r>
          </a:p>
        </p:txBody>
      </p:sp>
      <p:pic>
        <p:nvPicPr>
          <p:cNvPr id="6" name="Content Placeholder 5" descr="A green circuit board with white and black components&#10;&#10;AI-generated content may be incorrect.">
            <a:extLst>
              <a:ext uri="{FF2B5EF4-FFF2-40B4-BE49-F238E27FC236}">
                <a16:creationId xmlns:a16="http://schemas.microsoft.com/office/drawing/2014/main" id="{0EF9F5B1-926D-3245-B765-7F285EB7A529}"/>
              </a:ext>
            </a:extLst>
          </p:cNvPr>
          <p:cNvPicPr>
            <a:picLocks noGrp="1" noChangeAspect="1"/>
          </p:cNvPicPr>
          <p:nvPr>
            <p:ph idx="12"/>
          </p:nvPr>
        </p:nvPicPr>
        <p:blipFill>
          <a:blip r:embed="rId2"/>
          <a:srcRect l="5034" r="5034" b="-2"/>
          <a:stretch>
            <a:fillRect/>
          </a:stretch>
        </p:blipFill>
        <p:spPr>
          <a:xfrm>
            <a:off x="901247" y="2351171"/>
            <a:ext cx="3509695" cy="3795373"/>
          </a:xfrm>
          <a:noFill/>
        </p:spPr>
      </p:pic>
      <p:pic>
        <p:nvPicPr>
          <p:cNvPr id="9" name="Picture 8" descr="A green circuit board with white lines and yellow dots&#10;&#10;AI-generated content may be incorrect.">
            <a:extLst>
              <a:ext uri="{FF2B5EF4-FFF2-40B4-BE49-F238E27FC236}">
                <a16:creationId xmlns:a16="http://schemas.microsoft.com/office/drawing/2014/main" id="{CE587B13-2A52-8024-BB03-F9D8BB97F7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230" r="-1" b="14179"/>
          <a:stretch>
            <a:fillRect/>
          </a:stretch>
        </p:blipFill>
        <p:spPr>
          <a:xfrm>
            <a:off x="5291404" y="2351171"/>
            <a:ext cx="3509695" cy="378664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Component Placement on Board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3/7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0BBC3D0-CD35-9E1E-03DB-2240D3BB05B6}"/>
              </a:ext>
            </a:extLst>
          </p:cNvPr>
          <p:cNvSpPr txBox="1">
            <a:spLocks/>
          </p:cNvSpPr>
          <p:nvPr/>
        </p:nvSpPr>
        <p:spPr>
          <a:xfrm>
            <a:off x="342900" y="1543324"/>
            <a:ext cx="8450035" cy="4454706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itchFamily="2" charset="2"/>
              <a:buChar char="§"/>
              <a:defRPr sz="18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7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6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2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None/>
              <a:defRPr sz="10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resize the battery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Consider size constraints for PCB again</a:t>
            </a:r>
          </a:p>
        </p:txBody>
      </p:sp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 what can be done with Hardware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Refine Rev. 2 of PCB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Send Sensors + Quotes of Sensors to Charles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Blockers: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restrictions given by Agriculture departments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Could a computer be used instead? It would simplify a lot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What other hardware can be purchased and used at the farm?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23359</TotalTime>
  <Words>674</Words>
  <Application>Microsoft Macintosh PowerPoint</Application>
  <PresentationFormat>On-screen Show (4:3)</PresentationFormat>
  <Paragraphs>104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Franklin Gothic Book</vt:lpstr>
      <vt:lpstr>Franklin Gothic Medium Cond</vt:lpstr>
      <vt:lpstr>Acumin Pro Medium</vt:lpstr>
      <vt:lpstr>Wingdings</vt:lpstr>
      <vt:lpstr>Franklin Gothic Medium</vt:lpstr>
      <vt:lpstr>Acumin Pro</vt:lpstr>
      <vt:lpstr>Acumin Pro Semibold</vt:lpstr>
      <vt:lpstr>Arial</vt:lpstr>
      <vt:lpstr>Calibri</vt:lpstr>
      <vt:lpstr>Acumin Pro Condensed Semibold</vt:lpstr>
      <vt:lpstr>Office Theme</vt:lpstr>
      <vt:lpstr>Week 14</vt:lpstr>
      <vt:lpstr>This Week</vt:lpstr>
      <vt:lpstr>Web App Development</vt:lpstr>
      <vt:lpstr>Case Study on Resistive vs. Capacitive Sensors</vt:lpstr>
      <vt:lpstr>Case Study on Resistive vs. Capacitive Sensors</vt:lpstr>
      <vt:lpstr>Case Study on Resistive vs. Capacitive Sensors</vt:lpstr>
      <vt:lpstr>Case Study on Resistive vs. Capacitive Sensors</vt:lpstr>
      <vt:lpstr>Case Study on Resistive vs. Capacitive Sensors</vt:lpstr>
      <vt:lpstr>Case Study on Resistive vs. Capacitive Sensors</vt:lpstr>
      <vt:lpstr>Case Study on Resistive vs. Capacitive Sensors</vt:lpstr>
      <vt:lpstr>Rev. 3 PCB Started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55</cp:revision>
  <dcterms:created xsi:type="dcterms:W3CDTF">2023-02-16T02:16:06Z</dcterms:created>
  <dcterms:modified xsi:type="dcterms:W3CDTF">2025-12-05T16:51:28Z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