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5"/>
  </p:notesMasterIdLst>
  <p:sldIdLst>
    <p:sldId id="267" r:id="rId5"/>
    <p:sldId id="279" r:id="rId6"/>
    <p:sldId id="288" r:id="rId7"/>
    <p:sldId id="300" r:id="rId8"/>
    <p:sldId id="301" r:id="rId9"/>
    <p:sldId id="302" r:id="rId10"/>
    <p:sldId id="303" r:id="rId11"/>
    <p:sldId id="304" r:id="rId12"/>
    <p:sldId id="299" r:id="rId13"/>
    <p:sldId id="277" r:id="rId14"/>
  </p:sldIdLst>
  <p:sldSz cx="9144000" cy="6858000" type="screen4x3"/>
  <p:notesSz cx="6858000" cy="9144000"/>
  <p:embeddedFontLst>
    <p:embeddedFont>
      <p:font typeface="Acumin Pro Condensed Semibold" panose="020B0706020202020204" pitchFamily="34" charset="77"/>
      <p:regular r:id="rId16"/>
      <p:bold r:id="rId17"/>
      <p:italic r:id="rId18"/>
      <p:boldItalic r:id="rId19"/>
    </p:embeddedFont>
    <p:embeddedFont>
      <p:font typeface="Acumin Pro Medium" panose="020B0604020202020204" pitchFamily="34" charset="77"/>
      <p:regular r:id="rId20"/>
      <p:italic r:id="rId21"/>
    </p:embeddedFont>
    <p:embeddedFont>
      <p:font typeface="Franklin Gothic Book" panose="020B0503020102020204" pitchFamily="34" charset="0"/>
      <p:regular r:id="rId22"/>
      <p:italic r:id="rId23"/>
    </p:embeddedFont>
    <p:embeddedFont>
      <p:font typeface="Franklin Gothic Medium" panose="020B0603020102020204" pitchFamily="34" charset="0"/>
      <p:regular r:id="rId24"/>
      <p:italic r:id="rId25"/>
    </p:embeddedFont>
    <p:embeddedFont>
      <p:font typeface="Franklin Gothic Medium Cond" panose="020B0606030402020204" pitchFamily="3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53"/>
    <p:restoredTop sz="94453"/>
  </p:normalViewPr>
  <p:slideViewPr>
    <p:cSldViewPr snapToGrid="0">
      <p:cViewPr>
        <p:scale>
          <a:sx n="108" d="100"/>
          <a:sy n="108" d="100"/>
        </p:scale>
        <p:origin x="776" y="168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89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5D88-A255-52C6-2FDC-9B0AEF5C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0B72A-C76C-40CC-3228-A2947D3C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D5DC2-2078-8017-324F-BAF21946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Sabattical</a:t>
            </a:r>
            <a:r>
              <a:rPr lang="en-US" dirty="0"/>
              <a:t>?</a:t>
            </a:r>
          </a:p>
          <a:p>
            <a:r>
              <a:rPr lang="en-US" dirty="0"/>
              <a:t>Leon Salas Weekly Meetings</a:t>
            </a:r>
          </a:p>
          <a:p>
            <a:r>
              <a:rPr lang="en-US" dirty="0"/>
              <a:t>Meeting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CB2B-E8AE-EE2F-5C11-E60A6EC08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01/23/26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Preparing Devices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Soldering Pin Headers onto all Devices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Changing Sampling Rates for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Adjusting Data Collected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Changing Time Parameter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Adjustable Time Parameter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Changes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PCB Prototyping + Size Changing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Parts Ordering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F36D-4A0A-35E0-585D-81C7286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89B3BC-0C54-E2F6-2DAC-AEC39FB579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Soldering Pin Headers onto all Devices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6847D-6C77-2972-16ED-9D5EDF24A5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the combined meeting, distribution of devices has been determined: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6 – Agriculture for Testing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3 – Polytechnic for Development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1 – Shorted (Kept for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Currently Soldering </a:t>
            </a:r>
            <a:r>
              <a:rPr lang="en-US" u="sng" dirty="0"/>
              <a:t>5</a:t>
            </a:r>
            <a:r>
              <a:rPr lang="en-US" dirty="0"/>
              <a:t> more sets of pin headers onto each device</a:t>
            </a:r>
            <a:endParaRPr lang="en-US" u="s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16378A-3B82-C468-F62D-21497ABF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Devices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1CFDE-90B7-B6A6-C8CB-3D4D4E5BC6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3/10</a:t>
            </a:r>
          </a:p>
        </p:txBody>
      </p:sp>
      <p:pic>
        <p:nvPicPr>
          <p:cNvPr id="6" name="Picture 5" descr="A small black square object on a blue surface&#10;&#10;AI-generated content may be incorrect.">
            <a:extLst>
              <a:ext uri="{FF2B5EF4-FFF2-40B4-BE49-F238E27FC236}">
                <a16:creationId xmlns:a16="http://schemas.microsoft.com/office/drawing/2014/main" id="{0B0AA5BA-4859-DF29-1AC1-F5DC26F534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57" t="24888" r="20984" b="35477"/>
          <a:stretch>
            <a:fillRect/>
          </a:stretch>
        </p:blipFill>
        <p:spPr>
          <a:xfrm>
            <a:off x="1095392" y="3077795"/>
            <a:ext cx="1004341" cy="1204674"/>
          </a:xfrm>
          <a:prstGeom prst="rect">
            <a:avLst/>
          </a:prstGeom>
          <a:noFill/>
        </p:spPr>
      </p:pic>
      <p:pic>
        <p:nvPicPr>
          <p:cNvPr id="7" name="Picture 6" descr="A small black circuit board&#10;&#10;AI-generated content may be incorrect.">
            <a:extLst>
              <a:ext uri="{FF2B5EF4-FFF2-40B4-BE49-F238E27FC236}">
                <a16:creationId xmlns:a16="http://schemas.microsoft.com/office/drawing/2014/main" id="{5EEB26E3-2185-60E5-A1CA-CEFA19302A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22" t="32896" r="22529" b="24961"/>
          <a:stretch>
            <a:fillRect/>
          </a:stretch>
        </p:blipFill>
        <p:spPr>
          <a:xfrm>
            <a:off x="2095650" y="3077795"/>
            <a:ext cx="920373" cy="1198550"/>
          </a:xfrm>
          <a:prstGeom prst="rect">
            <a:avLst/>
          </a:prstGeom>
          <a:noFill/>
        </p:spPr>
      </p:pic>
      <p:pic>
        <p:nvPicPr>
          <p:cNvPr id="8" name="Picture 7" descr="A small black square object on a blue surface&#10;&#10;AI-generated content may be incorrect.">
            <a:extLst>
              <a:ext uri="{FF2B5EF4-FFF2-40B4-BE49-F238E27FC236}">
                <a16:creationId xmlns:a16="http://schemas.microsoft.com/office/drawing/2014/main" id="{0BFBB5EE-D230-B697-850A-1A2298BE6E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57" t="24888" r="20984" b="35477"/>
          <a:stretch>
            <a:fillRect/>
          </a:stretch>
        </p:blipFill>
        <p:spPr>
          <a:xfrm>
            <a:off x="3016023" y="3071671"/>
            <a:ext cx="1004341" cy="1204674"/>
          </a:xfrm>
          <a:prstGeom prst="rect">
            <a:avLst/>
          </a:prstGeom>
          <a:noFill/>
        </p:spPr>
      </p:pic>
      <p:pic>
        <p:nvPicPr>
          <p:cNvPr id="10" name="Picture 9" descr="A small black square object on a blue surface&#10;&#10;AI-generated content may be incorrect.">
            <a:extLst>
              <a:ext uri="{FF2B5EF4-FFF2-40B4-BE49-F238E27FC236}">
                <a16:creationId xmlns:a16="http://schemas.microsoft.com/office/drawing/2014/main" id="{9A2F7C41-1F03-0FBB-3598-E799EB3097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57" t="24888" r="20984" b="35477"/>
          <a:stretch>
            <a:fillRect/>
          </a:stretch>
        </p:blipFill>
        <p:spPr>
          <a:xfrm>
            <a:off x="4016281" y="3071671"/>
            <a:ext cx="1004341" cy="1204674"/>
          </a:xfrm>
          <a:prstGeom prst="rect">
            <a:avLst/>
          </a:prstGeom>
          <a:noFill/>
        </p:spPr>
      </p:pic>
      <p:pic>
        <p:nvPicPr>
          <p:cNvPr id="11" name="Picture 10" descr="A small black square object on a blue surface&#10;&#10;AI-generated content may be incorrect.">
            <a:extLst>
              <a:ext uri="{FF2B5EF4-FFF2-40B4-BE49-F238E27FC236}">
                <a16:creationId xmlns:a16="http://schemas.microsoft.com/office/drawing/2014/main" id="{9719486F-54B1-5EB8-C6E3-E256CED0D3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57" t="24888" r="20984" b="35477"/>
          <a:stretch>
            <a:fillRect/>
          </a:stretch>
        </p:blipFill>
        <p:spPr>
          <a:xfrm>
            <a:off x="4988907" y="3071671"/>
            <a:ext cx="1004341" cy="12046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9009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10B5B23-003B-38D7-3055-81CA10E8FD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90" b="16375"/>
          <a:stretch>
            <a:fillRect/>
          </a:stretch>
        </p:blipFill>
        <p:spPr>
          <a:xfrm>
            <a:off x="4891490" y="1643074"/>
            <a:ext cx="3909610" cy="2055591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814B94-9528-F556-9EBC-41828E86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</p:spPr>
        <p:txBody>
          <a:bodyPr anchor="ctr">
            <a:normAutofit/>
          </a:bodyPr>
          <a:lstStyle/>
          <a:p>
            <a:r>
              <a:rPr lang="en-US" dirty="0"/>
              <a:t>Preparing Devices</a:t>
            </a: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C37B23A-01B3-CF80-9F12-6F4B66BEFA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83" b="11484"/>
          <a:stretch>
            <a:fillRect/>
          </a:stretch>
        </p:blipFill>
        <p:spPr>
          <a:xfrm>
            <a:off x="4891490" y="3884038"/>
            <a:ext cx="3909610" cy="2055591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C00B6F-6B4B-173C-3072-ADB56A5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954291"/>
            <a:ext cx="8458200" cy="365760"/>
          </a:xfrm>
        </p:spPr>
        <p:txBody>
          <a:bodyPr>
            <a:normAutofit/>
          </a:bodyPr>
          <a:lstStyle/>
          <a:p>
            <a:r>
              <a:rPr lang="en-US" dirty="0"/>
              <a:t>Changing Sampling Rates for Devices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F3F81-D9AB-DCAC-5396-E5EED06435E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discussing with the Agriculture and Mechanical Engineering department, it might be useful to use different sampling rates: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Sampling rate can be changed in software, selecting: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500 Hz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200 Hz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100 Hz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50 Hz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25 Hz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FCB62B-554E-4895-CA47-4E6E3F7B31C0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F20DE-8CF8-8087-3407-E9F422EA8C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461174" y="6295058"/>
            <a:ext cx="1339925" cy="32397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17013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18C068-56BD-A2BC-EAAE-B06F0C070C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Changing Time Parameter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0D11B-699F-2910-6335-6146DA3AAD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Modified Maximum Entries from 1000 → 12000 (For 3 Hours)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Enough Time for Next Pilot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add user input to determine study time when finishing next version of code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886560-1724-07B0-9D00-BA5AC864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Adjusting Data Collected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E56E-7314-6D28-7574-BCC2D1AB982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5/10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D62110-1219-1158-D6EB-F445B864E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322" y="2786448"/>
            <a:ext cx="3979991" cy="267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38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0FC7-1C5F-B42E-3EAC-B7E073879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DD9BDD-F771-D2CB-6372-D83AD48274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Adjustable Time Parameter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778C4-B4E0-4252-5529-1EF11792B5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input to determine study time when finishing next version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Functionality kept for testing procedures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Could be replaced in future versions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5CD3AFC-1BC1-6E0A-5390-7DA09DB3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Adjusting Data Collected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FD45B-987C-68B6-94B5-2F1EFDD8281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6/10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4F4712-A813-010F-1038-99FA20FC1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239" y="2782210"/>
            <a:ext cx="4251861" cy="296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54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7623AA-799D-9C0B-EB6F-3E120754F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PCB Prototyping + Size Changing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3FC6D-2D1A-409B-DE45-9554A35335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Components Resized to fit for Hand Soldering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Switched to 04x02 + 05x03 mm^2 Components for Hand Soldering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Size on board increased, but very insignificant in general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CD9AA5-06BD-8CE3-2453-7EE97052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F6060-A38F-AEDD-8A87-E6B589E23D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7/10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DF0B446-4478-84D2-8D5D-4DB2A6DF5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342" y="2933204"/>
            <a:ext cx="4946508" cy="2299195"/>
          </a:xfrm>
          <a:prstGeom prst="rect">
            <a:avLst/>
          </a:prstGeom>
        </p:spPr>
      </p:pic>
      <p:pic>
        <p:nvPicPr>
          <p:cNvPr id="9" name="Picture 8" descr="A green circuit board with yellow dots and black circles&#10;&#10;AI-generated content may be incorrect.">
            <a:extLst>
              <a:ext uri="{FF2B5EF4-FFF2-40B4-BE49-F238E27FC236}">
                <a16:creationId xmlns:a16="http://schemas.microsoft.com/office/drawing/2014/main" id="{1F02DAF2-807A-B47E-938F-4A54FB6A5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65" y="2907896"/>
            <a:ext cx="2947313" cy="309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34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31B0-3F08-10C4-3E4B-819BF661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C90535-8514-E8E9-DABC-222131232D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PCB Ordering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F18B8-1E35-190F-73C5-BF8220901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~13 Components per board x 6 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Attempting to purchase components from the same vendor (to reduce lead time)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E69AAD-6267-41DB-1585-DC4B157E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A76F1-D7BE-1943-4C9B-518B35226B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8/10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4E8CD9-AA2E-5FD5-7FAB-1D5F8BFA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88" y="2833567"/>
            <a:ext cx="7261762" cy="307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9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EE2C-E869-EFCD-766A-B2EE7BADA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672C57-F465-3B96-B3BD-325579624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Plans &amp; Blockers for 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571E8-BE29-703B-B58C-A63EE3C73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and finalized Rev. 3 PCB to Hand to Agriculture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User Input/GUI to Testing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Obtain </a:t>
            </a:r>
            <a:r>
              <a:rPr lang="en-US" dirty="0" err="1"/>
              <a:t>Powercast</a:t>
            </a:r>
            <a:r>
              <a:rPr lang="en-US" dirty="0"/>
              <a:t> Transmitters from Agriculture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 Circuit from </a:t>
            </a:r>
            <a:r>
              <a:rPr lang="en-US" dirty="0" err="1"/>
              <a:t>Powercast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79CA14-A166-E4A5-0FF4-AEC5C28F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E36D6-5529-D593-8824-84A72BC8A3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30116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2006/documentManagement/types"/>
    <ds:schemaRef ds:uri="d6656b4d-3fa0-4709-acfb-d5e813445d1e"/>
    <ds:schemaRef ds:uri="http://purl.org/dc/terms/"/>
    <ds:schemaRef ds:uri="http://schemas.microsoft.com/office/infopath/2007/PartnerControls"/>
    <ds:schemaRef ds:uri="37af3f4b-4b66-46f9-8456-831d9bc3e73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24202</TotalTime>
  <Words>337</Words>
  <Application>Microsoft Macintosh PowerPoint</Application>
  <PresentationFormat>On-screen Show (4:3)</PresentationFormat>
  <Paragraphs>75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Calibri</vt:lpstr>
      <vt:lpstr>Acumin Pro</vt:lpstr>
      <vt:lpstr>Franklin Gothic Medium Cond</vt:lpstr>
      <vt:lpstr>Franklin Gothic Book</vt:lpstr>
      <vt:lpstr>Acumin Pro Condensed Semibold</vt:lpstr>
      <vt:lpstr>Acumin Pro Semibold</vt:lpstr>
      <vt:lpstr>Wingdings</vt:lpstr>
      <vt:lpstr>Acumin Pro Medium</vt:lpstr>
      <vt:lpstr>Franklin Gothic Medium</vt:lpstr>
      <vt:lpstr>Arial</vt:lpstr>
      <vt:lpstr>Office Theme</vt:lpstr>
      <vt:lpstr>Week 3</vt:lpstr>
      <vt:lpstr>This Week</vt:lpstr>
      <vt:lpstr>Preparing Devices</vt:lpstr>
      <vt:lpstr>Preparing Devices</vt:lpstr>
      <vt:lpstr>Adjusting Data Collected</vt:lpstr>
      <vt:lpstr>Adjusting Data Collected</vt:lpstr>
      <vt:lpstr>PCB Changes</vt:lpstr>
      <vt:lpstr>PCB Changes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68</cp:revision>
  <dcterms:created xsi:type="dcterms:W3CDTF">2023-02-16T02:16:06Z</dcterms:created>
  <dcterms:modified xsi:type="dcterms:W3CDTF">2026-01-30T07:16:32Z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