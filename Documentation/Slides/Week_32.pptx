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20"/>
  </p:notesMasterIdLst>
  <p:sldIdLst>
    <p:sldId id="267" r:id="rId5"/>
    <p:sldId id="279" r:id="rId6"/>
    <p:sldId id="287" r:id="rId7"/>
    <p:sldId id="288" r:id="rId8"/>
    <p:sldId id="289" r:id="rId9"/>
    <p:sldId id="290" r:id="rId10"/>
    <p:sldId id="291" r:id="rId11"/>
    <p:sldId id="292" r:id="rId12"/>
    <p:sldId id="293" r:id="rId13"/>
    <p:sldId id="294" r:id="rId14"/>
    <p:sldId id="295" r:id="rId15"/>
    <p:sldId id="296" r:id="rId16"/>
    <p:sldId id="297" r:id="rId17"/>
    <p:sldId id="286" r:id="rId18"/>
    <p:sldId id="277" r:id="rId19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21"/>
      <p:bold r:id="rId22"/>
      <p:italic r:id="rId23"/>
      <p:boldItalic r:id="rId24"/>
    </p:embeddedFont>
    <p:embeddedFont>
      <p:font typeface="Acumin Pro Medium" panose="020B0604020202020204" pitchFamily="34" charset="77"/>
      <p:regular r:id="rId25"/>
      <p:italic r:id="rId26"/>
    </p:embeddedFont>
    <p:embeddedFont>
      <p:font typeface="Franklin Gothic Book" panose="020B0503020102020204" pitchFamily="34" charset="0"/>
      <p:regular r:id="rId27"/>
      <p:italic r:id="rId28"/>
    </p:embeddedFont>
    <p:embeddedFont>
      <p:font typeface="Franklin Gothic Medium" panose="020B0603020102020204" pitchFamily="34" charset="0"/>
      <p:regular r:id="rId29"/>
      <p:italic r:id="rId30"/>
    </p:embeddedFont>
    <p:embeddedFont>
      <p:font typeface="Franklin Gothic Medium Cond" panose="020B0606030402020204" pitchFamily="34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449"/>
    <p:restoredTop sz="95884"/>
  </p:normalViewPr>
  <p:slideViewPr>
    <p:cSldViewPr snapToGrid="0">
      <p:cViewPr>
        <p:scale>
          <a:sx n="100" d="100"/>
          <a:sy n="100" d="100"/>
        </p:scale>
        <p:origin x="1312" y="448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6.fntdata"/><Relationship Id="rId3" Type="http://schemas.openxmlformats.org/officeDocument/2006/relationships/customXml" Target="../customXml/item3.xml"/><Relationship Id="rId21" Type="http://schemas.openxmlformats.org/officeDocument/2006/relationships/font" Target="fonts/font1.fntdata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5.fntdata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4.fntdata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11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17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5D771-FC02-9C85-1BFA-78E0D114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E873-3DC5-DE31-9D4D-2DB1FD426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693CCF-ACA1-42BF-830A-98C317A86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CF8F59-2F0D-2C02-9DF9-95A7B2A01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589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nhuang58.github.io/Biomedical_Device_PCB/" TargetMode="Externa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05/25/26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Collection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New data logger frontend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Necessary firmware updates →  avoid overheating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Corresponding backend updates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Fundamental circuit diagram completed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Updated </a:t>
            </a:r>
            <a:r>
              <a:rPr lang="en-US" dirty="0" err="1"/>
              <a:t>KiCAD</a:t>
            </a:r>
            <a:r>
              <a:rPr lang="en-US" dirty="0"/>
              <a:t> full circuit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Zoomed in RFID section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Finished PCB component for use on new PCB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PCB component added to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MongoDB database collection method started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Week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2/15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572022B-7E6B-6304-D81D-727A3AF8060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New data logger frontend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F7453B-45B4-ED6F-CCE3-097397C541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will operate on a dropdown system to save cache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3D viewer still present to get an idea of the current positioning of the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Critical parts of new design stated below: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C0A7AF-7E83-6A99-4444-407FA52CD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Collection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4DFABA-DEED-6C13-2D2B-05B905BA8F4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3/15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8D885A-C9F2-C29F-010D-0A4ADC9B2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717" y="2688219"/>
            <a:ext cx="7772400" cy="3309811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155A08FC-9F2E-48B9-79E4-EE3D55F5AF45}"/>
              </a:ext>
            </a:extLst>
          </p:cNvPr>
          <p:cNvSpPr/>
          <p:nvPr/>
        </p:nvSpPr>
        <p:spPr>
          <a:xfrm>
            <a:off x="2697841" y="2633238"/>
            <a:ext cx="1300061" cy="64457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64D38CD-6EE4-F806-BAED-309256234648}"/>
              </a:ext>
            </a:extLst>
          </p:cNvPr>
          <p:cNvSpPr/>
          <p:nvPr/>
        </p:nvSpPr>
        <p:spPr>
          <a:xfrm>
            <a:off x="4713965" y="2705691"/>
            <a:ext cx="1924341" cy="107066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58557E-ABAC-ACCC-95C9-E817359C9E36}"/>
              </a:ext>
            </a:extLst>
          </p:cNvPr>
          <p:cNvSpPr txBox="1"/>
          <p:nvPr/>
        </p:nvSpPr>
        <p:spPr>
          <a:xfrm>
            <a:off x="5298125" y="4668345"/>
            <a:ext cx="2680362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Dropdown menu for sensor and sample rate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4897BF3-D65B-076C-ECBF-4F20CA062393}"/>
              </a:ext>
            </a:extLst>
          </p:cNvPr>
          <p:cNvCxnSpPr>
            <a:cxnSpLocks/>
          </p:cNvCxnSpPr>
          <p:nvPr/>
        </p:nvCxnSpPr>
        <p:spPr>
          <a:xfrm flipH="1" flipV="1">
            <a:off x="5961413" y="3815866"/>
            <a:ext cx="473068" cy="8249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F0245BF-567E-F071-994F-5773A1EF0C8F}"/>
              </a:ext>
            </a:extLst>
          </p:cNvPr>
          <p:cNvSpPr txBox="1"/>
          <p:nvPr/>
        </p:nvSpPr>
        <p:spPr>
          <a:xfrm>
            <a:off x="795397" y="5534377"/>
            <a:ext cx="307595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Only last 60 seconds present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CE9EB48-4A61-241D-8A28-3BEF8BABE1D1}"/>
              </a:ext>
            </a:extLst>
          </p:cNvPr>
          <p:cNvCxnSpPr>
            <a:cxnSpLocks/>
          </p:cNvCxnSpPr>
          <p:nvPr/>
        </p:nvCxnSpPr>
        <p:spPr>
          <a:xfrm flipV="1">
            <a:off x="3871356" y="5639729"/>
            <a:ext cx="1650670" cy="943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355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DC34E-A141-0C4C-91B0-7FF2A30A3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A70903-656C-4C7E-302E-A8605559C7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Necessary firmware updates →  avoid overheating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CA065-E52C-40EF-82B9-D8B495B43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Unnecessary Sensors have been deactivated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Firmware NEEDS to be flashed every time a new software update is available: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0599BE6-FB36-3EB8-812F-0B023F39D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Collection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1868C-A786-CEB2-E65B-E713466D983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4/15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3C6AF0-ACD8-E84C-B3F3-DF707841E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133" y="2317497"/>
            <a:ext cx="5175286" cy="3903806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F66541B3-386B-0E91-735B-5C038A7DEBB4}"/>
              </a:ext>
            </a:extLst>
          </p:cNvPr>
          <p:cNvSpPr/>
          <p:nvPr/>
        </p:nvSpPr>
        <p:spPr>
          <a:xfrm>
            <a:off x="3149103" y="2155409"/>
            <a:ext cx="1300061" cy="64457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4FB08E-0A4F-A2D1-A9A6-C77B2B6C290A}"/>
              </a:ext>
            </a:extLst>
          </p:cNvPr>
          <p:cNvSpPr txBox="1"/>
          <p:nvPr/>
        </p:nvSpPr>
        <p:spPr>
          <a:xfrm>
            <a:off x="342900" y="2838058"/>
            <a:ext cx="2329048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Ensure the correct device is selected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EEB908-DB68-3855-1681-29B08C1DEDB0}"/>
              </a:ext>
            </a:extLst>
          </p:cNvPr>
          <p:cNvCxnSpPr/>
          <p:nvPr/>
        </p:nvCxnSpPr>
        <p:spPr>
          <a:xfrm flipV="1">
            <a:off x="2670003" y="2620056"/>
            <a:ext cx="595908" cy="2180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A99481CE-B52B-9190-6865-4FFE9A0F2411}"/>
              </a:ext>
            </a:extLst>
          </p:cNvPr>
          <p:cNvSpPr/>
          <p:nvPr/>
        </p:nvSpPr>
        <p:spPr>
          <a:xfrm>
            <a:off x="2848133" y="5675368"/>
            <a:ext cx="1300061" cy="64457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E95A71-CD74-B405-00C7-38D874540589}"/>
              </a:ext>
            </a:extLst>
          </p:cNvPr>
          <p:cNvSpPr txBox="1"/>
          <p:nvPr/>
        </p:nvSpPr>
        <p:spPr>
          <a:xfrm>
            <a:off x="234043" y="5074326"/>
            <a:ext cx="2329048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Correct shutdown message will be stated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FCF3D05-B845-4BCC-7D46-36A00CC1772F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550179" y="5561096"/>
            <a:ext cx="488344" cy="2086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242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0E8E513-9788-8ECB-7C15-E7EA0658571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Corresponding backend updates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F6B465-71C4-11A7-2C69-A1E6B8BDFC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Backend again </a:t>
            </a:r>
            <a:r>
              <a:rPr lang="en-US" dirty="0">
                <a:hlinkClick r:id="rId2"/>
              </a:rPr>
              <a:t>hosted</a:t>
            </a:r>
            <a:r>
              <a:rPr lang="en-US" dirty="0"/>
              <a:t> at: </a:t>
            </a:r>
            <a:r>
              <a:rPr lang="en-US" dirty="0">
                <a:hlinkClick r:id="rId2"/>
              </a:rPr>
              <a:t>https://nhuang58.github.io/Biomedical_Device_PCB/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Uses a </a:t>
            </a:r>
            <a:r>
              <a:rPr lang="en-US" dirty="0" err="1"/>
              <a:t>InterDB</a:t>
            </a:r>
            <a:r>
              <a:rPr lang="en-US" dirty="0"/>
              <a:t> Database to store data instead of relying on local storage on a user(s) device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Storage to the Database based on an API call within the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6157D9-2A77-F047-ED77-198A84B64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CCE763-D63A-45AB-FB58-601F3E7F0EF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5/15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651AF0-DF86-133E-DFFA-3357ACFD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636" y="3079915"/>
            <a:ext cx="7429500" cy="17907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774440C-50C4-5F10-472A-A32FC52B7E8B}"/>
              </a:ext>
            </a:extLst>
          </p:cNvPr>
          <p:cNvCxnSpPr>
            <a:cxnSpLocks/>
          </p:cNvCxnSpPr>
          <p:nvPr/>
        </p:nvCxnSpPr>
        <p:spPr>
          <a:xfrm>
            <a:off x="2565070" y="2826327"/>
            <a:ext cx="938151" cy="602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03529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23ED9-E902-41EB-B91E-FB83BFF7A7E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Fundamental circuit diagram completed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D56D9F-C146-2FD2-C007-D5F2E8B03D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Based on primitive circuit found in datasheet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Other circuit specifications needed to be outlined</a:t>
            </a:r>
          </a:p>
          <a:p>
            <a:r>
              <a:rPr lang="en-US" dirty="0"/>
              <a:t>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723DBC-DDFE-A4F9-6047-A6D5B746A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963C46-0BFF-7FA5-2331-318C5F7E3BC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6/15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C348A3-C0C0-2F79-75B1-0C223796F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223" y="2260082"/>
            <a:ext cx="6364913" cy="3961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6061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418B5-B6E0-FAB9-2B93-016B94FC7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3F6016F-2109-6A59-6693-2A13AC2DB5F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Fundamental circuit diagram completed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3877D4-AD31-5E2E-FACE-F4197CAF0C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Mechanical design specifications outlined: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Units in inches (hard to locate)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50 impedance antenna required (The antenna we have is sufficient)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0.550 x 0.430 x 0.033 in^3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13.97 x 10.92 x 2.31 mm^3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Sufficient space on board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See next slide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D846DC2-8443-3130-5E38-CD8A461EA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5CC84-D86D-AF09-2A5C-F9C264B749F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7/15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4BF28F-AB86-D18A-2FCA-22B095364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184" y="2759315"/>
            <a:ext cx="4696952" cy="369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239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E52DC19-3BDD-4E5A-CF64-E0B6A280C0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Updated </a:t>
            </a:r>
            <a:r>
              <a:rPr lang="en-US" dirty="0" err="1"/>
              <a:t>KiCAD</a:t>
            </a:r>
            <a:r>
              <a:rPr lang="en-US" dirty="0"/>
              <a:t> full circuit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DCEB37-7390-C5DF-E898-E0C25D4A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4B7C1B-A5EE-A831-AD4E-ACA73CC6EFD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8/15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058EF4-2C52-5FDF-795F-F713B6B74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301" y="1405795"/>
            <a:ext cx="6824970" cy="454324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4B2E1419-320F-1BAA-BA83-7182ED48C5EF}"/>
              </a:ext>
            </a:extLst>
          </p:cNvPr>
          <p:cNvSpPr/>
          <p:nvPr/>
        </p:nvSpPr>
        <p:spPr>
          <a:xfrm>
            <a:off x="3398485" y="3162977"/>
            <a:ext cx="2867233" cy="200130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482394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28899-88B2-0C44-63F5-4C3DEA00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A22640-9D05-6A77-C94B-CBCC1522418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Zoomed in RFID section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2BB8A-F3DF-C225-6CDA-49E8887F2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C4E-07C4-2320-1DF2-9E8244E45FA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9/15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A508A1-35B0-6569-5444-18E41E360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914" y="1914430"/>
            <a:ext cx="5286086" cy="4306873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4210A84A-AFD5-9F6D-B77B-7F240A7952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A0 analog input to read data in case of debugging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VIN connected to battery charger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3.3 V level</a:t>
            </a:r>
          </a:p>
        </p:txBody>
      </p:sp>
    </p:spTree>
    <p:extLst>
      <p:ext uri="{BB962C8B-B14F-4D97-AF65-F5344CB8AC3E}">
        <p14:creationId xmlns:p14="http://schemas.microsoft.com/office/powerpoint/2010/main" val="3648959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66A6EF-EF66-426F-91B4-B9A288BC66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Finished PCB component for use on new PCB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5FFB8E-2114-EB36-205D-E901EFD671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Allowed correct spacing for the P1110b mounting holes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 mm diameter mounting hole: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952232E-C77E-10B2-25E9-E3D5DCEE6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555E0D-BC57-D75A-C694-0E69F08562F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B21F3F-7B02-3752-F727-C172516E1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2" y="2439495"/>
            <a:ext cx="4525180" cy="3464214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FADBCDC2-EBAB-D71C-E266-0289DAB6416E}"/>
              </a:ext>
            </a:extLst>
          </p:cNvPr>
          <p:cNvSpPr/>
          <p:nvPr/>
        </p:nvSpPr>
        <p:spPr>
          <a:xfrm>
            <a:off x="3546802" y="2526620"/>
            <a:ext cx="1021115" cy="54464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9F344E9-5B21-394B-B6B5-1A97929641CD}"/>
              </a:ext>
            </a:extLst>
          </p:cNvPr>
          <p:cNvCxnSpPr>
            <a:cxnSpLocks/>
          </p:cNvCxnSpPr>
          <p:nvPr/>
        </p:nvCxnSpPr>
        <p:spPr>
          <a:xfrm>
            <a:off x="3643640" y="2128947"/>
            <a:ext cx="265245" cy="39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F143F727-0755-9981-3F80-871F2A492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086" y="2685143"/>
            <a:ext cx="3668910" cy="326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956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D03ED-75C8-81D8-58DA-A49AC5F11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D40FBD5-E949-1773-B638-2382F25054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PCB component added to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E18A1-869D-1CBB-C424-F1054438F1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Relative sizing on the back of the PCB seen for reference: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a large component by any regard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F1A4DA6-9ABB-6675-1E2F-1544F48EC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82B30C-01E9-B1DE-C698-CA639914B24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11/15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762437-0DAE-9542-0BA4-0ED8471AE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400" y="2380857"/>
            <a:ext cx="5207000" cy="3799886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737A2A03-3A5E-DF8F-38A7-4133A1B7CAC5}"/>
              </a:ext>
            </a:extLst>
          </p:cNvPr>
          <p:cNvSpPr/>
          <p:nvPr/>
        </p:nvSpPr>
        <p:spPr>
          <a:xfrm>
            <a:off x="5489902" y="3156676"/>
            <a:ext cx="1850698" cy="246942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470411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BD68FEA-F426-9CB2-5879-BBC8AE2577E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MongoDB database collection method started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C7A381-286A-EEF1-65A0-74E3FBA7DF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collection method </a:t>
            </a:r>
            <a:r>
              <a:rPr lang="en-US" u="sng" dirty="0"/>
              <a:t>3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Cloud Storage: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u="sng" dirty="0"/>
              <a:t>Operation: </a:t>
            </a:r>
            <a:r>
              <a:rPr lang="en-US" dirty="0"/>
              <a:t>Data would be immediately backed up to the cloud or another service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u="sng" dirty="0"/>
              <a:t>Collection: </a:t>
            </a:r>
            <a:r>
              <a:rPr lang="en-US" dirty="0"/>
              <a:t>A remote login would be needed to access data, nothing else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Potential Solution: </a:t>
            </a:r>
            <a:r>
              <a:rPr lang="en-US" u="sng" dirty="0"/>
              <a:t>MongoDB</a:t>
            </a: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Runs off AWS servers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Free for immediate use (No large-scale data)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Perfect for an intermediate cloud solution that is easy to maintain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Data can be pulled from the database without having to connect to a Nicla BLE device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98C8AC-2F25-D3E1-D653-5175A4C61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180FFB-784B-3A4C-3E86-CA81C9627E4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12/15</a:t>
            </a:r>
          </a:p>
        </p:txBody>
      </p:sp>
      <p:pic>
        <p:nvPicPr>
          <p:cNvPr id="1026" name="Picture 2" descr="MongoDB Monitoring and Performance Management | IBM">
            <a:extLst>
              <a:ext uri="{FF2B5EF4-FFF2-40B4-BE49-F238E27FC236}">
                <a16:creationId xmlns:a16="http://schemas.microsoft.com/office/drawing/2014/main" id="{21EA0086-7737-43B3-92D4-4F2078FEF9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2800" y="4393926"/>
            <a:ext cx="2025649" cy="1525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1583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FE852-E406-3A8D-41D0-CC2ECF4B7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40E99C-F778-B6CD-D774-4BB90348D91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MongoDB database collection method started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2CB5E-3697-943F-FB99-DE667B3BCE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Created Cluster (</a:t>
            </a:r>
            <a:r>
              <a:rPr lang="en-US" dirty="0" err="1"/>
              <a:t>Keel_Bone_Study_Database</a:t>
            </a:r>
            <a:r>
              <a:rPr lang="en-US" dirty="0"/>
              <a:t>) for collecting data through MongoDB servers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Free for now, up to 0.5 GB (.csv files on the order of 0.0001 Gb (0.02%)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Shouldn’t exceed the limits with the size of .csv files collected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21F94-4CE8-5E68-4227-38B87174A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Updates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85747-16BE-4D0D-B261-C61683D8A6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13/15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70864C-03A4-BE02-DD52-EBA1091A4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890" y="2838605"/>
            <a:ext cx="6151410" cy="3307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879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D72587-DF24-E361-3C87-CFAE3C408C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Next Week’s Plan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C18513-FBE2-EBBB-125E-FA48BA6B1B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8C5F57F-D41F-FAF8-68C5-CD8D95AF8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33180-B8A6-C9B8-09AC-F39A8DDB0F4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14/15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8677F4A-0EE5-8488-2CEF-7324D0597EC2}"/>
              </a:ext>
            </a:extLst>
          </p:cNvPr>
          <p:cNvSpPr txBox="1">
            <a:spLocks/>
          </p:cNvSpPr>
          <p:nvPr/>
        </p:nvSpPr>
        <p:spPr>
          <a:xfrm>
            <a:off x="495300" y="1695724"/>
            <a:ext cx="8450035" cy="4454706"/>
          </a:xfrm>
          <a:prstGeom prst="rect">
            <a:avLst/>
          </a:prstGeom>
        </p:spPr>
        <p:txBody>
          <a:bodyPr vert="horz" lIns="91440" tIns="45720" rIns="91440" bIns="45720" numCol="1" rtlCol="0">
            <a:noAutofit/>
          </a:bodyPr>
          <a:lstStyle>
            <a:lvl1pPr marL="0" indent="0" algn="l" defTabSz="685800" rtl="0" eaLnBrk="1" fontAlgn="t" latinLnBrk="0" hangingPunct="1">
              <a:lnSpc>
                <a:spcPct val="90000"/>
              </a:lnSpc>
              <a:spcBef>
                <a:spcPts val="750"/>
              </a:spcBef>
              <a:buFontTx/>
              <a:buNone/>
              <a:defRPr sz="1800" b="0" i="0" kern="1200" baseline="0">
                <a:solidFill>
                  <a:schemeClr val="tx1"/>
                </a:solidFill>
                <a:latin typeface="Acumin Pro" panose="020B0504020202020204" pitchFamily="34" charset="77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 MongoDB backend with current web application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No need for frontend, simplifies a lot of the work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Write documentation for operation of the device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Professor Karcher’s request for making sure the device is properly operated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Send a follow-up email to Professor Karcher for </a:t>
            </a:r>
            <a:r>
              <a:rPr lang="en-US"/>
              <a:t>a specific date to meet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Showcase Agriculture department how to pull data from the database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Introduce MongoDB to Omosalewa and make sure the web application is as intuitive as possible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025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31701</TotalTime>
  <Words>610</Words>
  <Application>Microsoft Macintosh PowerPoint</Application>
  <PresentationFormat>On-screen Show (4:3)</PresentationFormat>
  <Paragraphs>113</Paragraphs>
  <Slides>15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Acumin Pro Medium</vt:lpstr>
      <vt:lpstr>Arial</vt:lpstr>
      <vt:lpstr>Franklin Gothic Medium Cond</vt:lpstr>
      <vt:lpstr>Acumin Pro Condensed Semibold</vt:lpstr>
      <vt:lpstr>Calibri</vt:lpstr>
      <vt:lpstr>Acumin Pro Semibold</vt:lpstr>
      <vt:lpstr>Franklin Gothic Book</vt:lpstr>
      <vt:lpstr>Wingdings</vt:lpstr>
      <vt:lpstr>Acumin Pro</vt:lpstr>
      <vt:lpstr>Franklin Gothic Medium</vt:lpstr>
      <vt:lpstr>Office Theme</vt:lpstr>
      <vt:lpstr>Week 2</vt:lpstr>
      <vt:lpstr>This Week</vt:lpstr>
      <vt:lpstr>Data Collection Updates</vt:lpstr>
      <vt:lpstr>Data Collection Updates</vt:lpstr>
      <vt:lpstr>Collection</vt:lpstr>
      <vt:lpstr>PCB Updates</vt:lpstr>
      <vt:lpstr>PCB Updates</vt:lpstr>
      <vt:lpstr>PCB Updates</vt:lpstr>
      <vt:lpstr>PCB Updates</vt:lpstr>
      <vt:lpstr>PCB Updates</vt:lpstr>
      <vt:lpstr>PCB Updates</vt:lpstr>
      <vt:lpstr>Database Updates</vt:lpstr>
      <vt:lpstr>Database Updates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107</cp:revision>
  <cp:lastPrinted>2026-05-25T08:08:19Z</cp:lastPrinted>
  <dcterms:created xsi:type="dcterms:W3CDTF">2023-02-16T02:16:06Z</dcterms:created>
  <dcterms:modified xsi:type="dcterms:W3CDTF">2026-05-25T11:57:54Z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