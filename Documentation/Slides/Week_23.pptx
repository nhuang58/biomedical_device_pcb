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6"/>
  </p:notesMasterIdLst>
  <p:sldIdLst>
    <p:sldId id="267" r:id="rId5"/>
    <p:sldId id="279" r:id="rId6"/>
    <p:sldId id="300" r:id="rId7"/>
    <p:sldId id="301" r:id="rId8"/>
    <p:sldId id="304" r:id="rId9"/>
    <p:sldId id="305" r:id="rId10"/>
    <p:sldId id="307" r:id="rId11"/>
    <p:sldId id="302" r:id="rId12"/>
    <p:sldId id="303" r:id="rId13"/>
    <p:sldId id="299" r:id="rId14"/>
    <p:sldId id="277" r:id="rId15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7"/>
      <p:bold r:id="rId18"/>
      <p:italic r:id="rId19"/>
      <p:boldItalic r:id="rId20"/>
    </p:embeddedFont>
    <p:embeddedFont>
      <p:font typeface="Acumin Pro Medium" panose="020B0604020202020204" pitchFamily="34" charset="77"/>
      <p:regular r:id="rId21"/>
      <p:italic r:id="rId22"/>
    </p:embeddedFont>
    <p:embeddedFont>
      <p:font typeface="Franklin Gothic Book" panose="020B0503020102020204" pitchFamily="34" charset="0"/>
      <p:regular r:id="rId23"/>
      <p:italic r:id="rId24"/>
    </p:embeddedFont>
    <p:embeddedFont>
      <p:font typeface="Franklin Gothic Medium" panose="020B0603020102020204" pitchFamily="34" charset="0"/>
      <p:regular r:id="rId25"/>
      <p:italic r:id="rId26"/>
    </p:embeddedFont>
    <p:embeddedFont>
      <p:font typeface="Franklin Gothic Medium Cond" panose="020B0606030402020204" pitchFamily="3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30"/>
    <p:restoredTop sz="94402"/>
  </p:normalViewPr>
  <p:slideViewPr>
    <p:cSldViewPr snapToGrid="0">
      <p:cViewPr varScale="1">
        <p:scale>
          <a:sx n="108" d="100"/>
          <a:sy n="108" d="100"/>
        </p:scale>
        <p:origin x="776" y="184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5D88-A255-52C6-2FDC-9B0AEF5C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0B72A-C76C-40CC-3228-A2947D3C2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D5DC2-2078-8017-324F-BAF219465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CB2B-E8AE-EE2F-5C11-E60A6EC08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l-engineering.com/contact-us" TargetMode="External"/><Relationship Id="rId2" Type="http://schemas.openxmlformats.org/officeDocument/2006/relationships/hyperlink" Target="https://dl-engineering.com/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hyperlink" Target="https://www.7pcb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key.com/en/products/detail/te-connectivity-amp-connectors/321026/299225" TargetMode="External"/><Relationship Id="rId2" Type="http://schemas.openxmlformats.org/officeDocument/2006/relationships/hyperlink" Target="https://www.digikey.com/en/products/filter/rectangular-connectors/rectangular-connector-housings/319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02/23/26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Handling of Physical PCBs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Vendor &amp; Vertical Dividers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Layout for Revision 5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Placement of RFID Charging on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Selection of Thermometer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Placement on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Purchasing Requests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Sensors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Cabling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Updates &amp; Research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Time Zone Issue Resolved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Research into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mall green and black circuit board&#10;&#10;AI-generated content may be incorrect.">
            <a:extLst>
              <a:ext uri="{FF2B5EF4-FFF2-40B4-BE49-F238E27FC236}">
                <a16:creationId xmlns:a16="http://schemas.microsoft.com/office/drawing/2014/main" id="{EBDF3C5D-C879-27E6-8887-0326867C31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98" b="12223"/>
          <a:stretch>
            <a:fillRect/>
          </a:stretch>
        </p:blipFill>
        <p:spPr>
          <a:xfrm>
            <a:off x="4891490" y="1643074"/>
            <a:ext cx="3909610" cy="2055591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685F85E-DBB3-23E1-013C-56576915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PCB Updates</a:t>
            </a:r>
          </a:p>
        </p:txBody>
      </p:sp>
      <p:pic>
        <p:nvPicPr>
          <p:cNvPr id="12" name="Picture 11" descr="A green circuit board with many holes&#10;&#10;AI-generated content may be incorrect.">
            <a:extLst>
              <a:ext uri="{FF2B5EF4-FFF2-40B4-BE49-F238E27FC236}">
                <a16:creationId xmlns:a16="http://schemas.microsoft.com/office/drawing/2014/main" id="{A9D59E02-4C0D-58A2-23B4-1962EE1EFF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18" r="11831"/>
          <a:stretch>
            <a:fillRect/>
          </a:stretch>
        </p:blipFill>
        <p:spPr>
          <a:xfrm>
            <a:off x="6965414" y="3884038"/>
            <a:ext cx="1835685" cy="2055591"/>
          </a:xfrm>
          <a:prstGeom prst="rect">
            <a:avLst/>
          </a:prstGeom>
          <a:noFill/>
        </p:spPr>
      </p:pic>
      <p:pic>
        <p:nvPicPr>
          <p:cNvPr id="14" name="Picture 13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288DCBA2-506E-E47B-203E-D039D70417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408" r="11780" b="4"/>
          <a:stretch>
            <a:fillRect/>
          </a:stretch>
        </p:blipFill>
        <p:spPr>
          <a:xfrm>
            <a:off x="4891490" y="3879120"/>
            <a:ext cx="1896687" cy="2055592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09E676-3DB1-E9C4-8C98-AB4B9BA5B9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Handling of Physical PCBs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13DC0-E0AA-3EDC-6D94-21BB44794A6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PCBs have been partially soldered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 alignment errors that need to be analyzed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Approximate Volume: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/>
              <a:t>29.20 mm x 29.20 mm x 11.50 mm = 9.80 cm^3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6F957-1C4E-10D8-7076-EB7FFBF83F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3/13</a:t>
            </a:r>
          </a:p>
        </p:txBody>
      </p:sp>
    </p:spTree>
    <p:extLst>
      <p:ext uri="{BB962C8B-B14F-4D97-AF65-F5344CB8AC3E}">
        <p14:creationId xmlns:p14="http://schemas.microsoft.com/office/powerpoint/2010/main" val="4166300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B22273-6112-55DA-ACB7-AA281BB7E6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Vendor &amp; Vertical Dividers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00D07-A1B2-2FAE-6141-04B0B78920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Black plastic insulating base stripped from existing pin headers and attached to PCB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Doubles the distance between the PCBs and allows for better heat dissipation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Leads to a very tight fit and little heat lost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Vendor for PCBs: </a:t>
            </a:r>
            <a:r>
              <a:rPr lang="en-US" dirty="0">
                <a:hlinkClick r:id="rId2"/>
              </a:rPr>
              <a:t>DL-Engineering, LLC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Indiana based company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Fast lead times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Interaction with engineers for validation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Based on Professor Berry’s input, have already reached out: </a:t>
            </a:r>
            <a:r>
              <a:rPr lang="en-US" dirty="0">
                <a:hlinkClick r:id="rId3"/>
              </a:rPr>
              <a:t>https://dl-engineering.com/contact-us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Also considering 7PCB.com, based on Professor Salas’ input: </a:t>
            </a:r>
            <a:r>
              <a:rPr lang="en-US" dirty="0">
                <a:hlinkClick r:id="rId4"/>
              </a:rPr>
              <a:t>https://www.7pcb.com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F4F0E6-3DDB-46FB-3230-BE4BCD97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CF6F6-A4F6-6328-57C5-1FA248A6F8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>
              <a:spcAft>
                <a:spcPts val="600"/>
              </a:spcAft>
            </a:pPr>
            <a:r>
              <a:rPr lang="en-US" dirty="0"/>
              <a:t>4/13</a:t>
            </a:r>
          </a:p>
        </p:txBody>
      </p:sp>
      <p:pic>
        <p:nvPicPr>
          <p:cNvPr id="2050" name="Picture 2" descr="Connector Header Through Hole 16 position 0.100&quot; (2.54mm)">
            <a:extLst>
              <a:ext uri="{FF2B5EF4-FFF2-40B4-BE49-F238E27FC236}">
                <a16:creationId xmlns:a16="http://schemas.microsoft.com/office/drawing/2014/main" id="{E0AEE873-D0C1-CFB9-3DA5-3992B4BB7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075" y="4360385"/>
            <a:ext cx="1543324" cy="154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98FB24-9035-55C3-878D-BD43CF9A9A91}"/>
              </a:ext>
            </a:extLst>
          </p:cNvPr>
          <p:cNvCxnSpPr/>
          <p:nvPr/>
        </p:nvCxnSpPr>
        <p:spPr>
          <a:xfrm flipH="1">
            <a:off x="3192399" y="5132047"/>
            <a:ext cx="1153970" cy="235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262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4FC0B6-7CA3-AD55-83F8-5FB0B17660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Layout for Revision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4E462-39AA-D9A3-F126-FD9F0965BB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Size increased to 29.20 mm (~30 mm) square area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Sizing expanded to accommodate: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 3 Pin JST (Thermistor), FFC Cable, Antenna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FFC located with 4 Pins for Charge and Strain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RFID Charging Managed with Minimal Circuitry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138996-74FB-E6AD-F451-F44BBDA2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765F-B2C8-F1B6-1F0E-8C4AE1061D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>
              <a:spcAft>
                <a:spcPts val="600"/>
              </a:spcAft>
            </a:pPr>
            <a:r>
              <a:rPr lang="en-US" dirty="0"/>
              <a:t>5/13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6DA6E6-DD87-4E36-6B2D-C8E378A1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96" y="2755757"/>
            <a:ext cx="2817368" cy="3147952"/>
          </a:xfrm>
          <a:prstGeom prst="rect">
            <a:avLst/>
          </a:prstGeom>
        </p:spPr>
      </p:pic>
      <p:pic>
        <p:nvPicPr>
          <p:cNvPr id="11" name="Picture 10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A7741B81-B309-250D-E744-5DB97C6A2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705" y="2801091"/>
            <a:ext cx="2914049" cy="314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8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CCF31-E7FB-97F2-8D49-1077B128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C0FD52-59DF-6C20-181C-DFF4A52E3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PCB Updates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0E51E-9932-6BAE-B593-F91EE4FF4A4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Positioning of Antenna on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Antenna will hopefully pop OUT of the backpack to receive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~35 mm antenna (3.5 cm of extrusion)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EB316433-9C9D-99F8-9DA7-C72209786C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5" r="-3" b="15878"/>
          <a:stretch>
            <a:fillRect/>
          </a:stretch>
        </p:blipFill>
        <p:spPr>
          <a:xfrm>
            <a:off x="3256663" y="1543324"/>
            <a:ext cx="2630674" cy="4390337"/>
          </a:xfrm>
          <a:prstGeom prst="rect">
            <a:avLst/>
          </a:prstGeom>
          <a:noFill/>
        </p:spPr>
      </p:pic>
      <p:pic>
        <p:nvPicPr>
          <p:cNvPr id="7" name="Picture 6" descr="A green circuit board with yellow circles&#10;&#10;AI-generated content may be incorrect.">
            <a:extLst>
              <a:ext uri="{FF2B5EF4-FFF2-40B4-BE49-F238E27FC236}">
                <a16:creationId xmlns:a16="http://schemas.microsoft.com/office/drawing/2014/main" id="{327F8E92-CB63-1D78-A2E0-EF26B40AD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67" r="16547" b="1"/>
          <a:stretch>
            <a:fillRect/>
          </a:stretch>
        </p:blipFill>
        <p:spPr>
          <a:xfrm>
            <a:off x="6182353" y="1543323"/>
            <a:ext cx="2630674" cy="4390337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530745-33B6-D637-9E43-47ECADFEC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Placement of RFID Charging on Board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6A72E-81DE-930C-D1E0-235011D94D7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6/13</a:t>
            </a:r>
          </a:p>
        </p:txBody>
      </p:sp>
    </p:spTree>
    <p:extLst>
      <p:ext uri="{BB962C8B-B14F-4D97-AF65-F5344CB8AC3E}">
        <p14:creationId xmlns:p14="http://schemas.microsoft.com/office/powerpoint/2010/main" val="58895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81B6B6-B987-B345-56D4-861F2FF7CA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Placement on PCB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08EF4-EDE5-1CD7-5E9C-C2F2421C4A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Placed at the edge for minimal interference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Pins: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Ground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Power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Signal (LPIO)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95455F-CAA1-FD2A-E108-FD6BDC2E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Thermometer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911D9-7A63-05A4-D28E-73E5180220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>
              <a:spcAft>
                <a:spcPts val="600"/>
              </a:spcAft>
            </a:pPr>
            <a:r>
              <a:rPr lang="en-US" dirty="0"/>
              <a:t>7/13</a:t>
            </a:r>
          </a:p>
        </p:txBody>
      </p:sp>
      <p:pic>
        <p:nvPicPr>
          <p:cNvPr id="7" name="Picture 6" descr="A green circuit board with yellow circles&#10;&#10;AI-generated content may be incorrect.">
            <a:extLst>
              <a:ext uri="{FF2B5EF4-FFF2-40B4-BE49-F238E27FC236}">
                <a16:creationId xmlns:a16="http://schemas.microsoft.com/office/drawing/2014/main" id="{27A418DC-57FC-1B4B-D6A1-D26C8EAF2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932" y="3300103"/>
            <a:ext cx="34925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65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FC867C-5A84-3B11-EC50-F64D308E51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Sensors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35243-4C5F-68CF-5BB9-4B1FB6BED5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Thermometer: SNS-TMP-DS18B20-MAXIM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https://</a:t>
            </a:r>
            <a:r>
              <a:rPr lang="en-US" dirty="0" err="1"/>
              <a:t>www.digikey.com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/products/detail/</a:t>
            </a:r>
            <a:r>
              <a:rPr lang="en-US" dirty="0" err="1"/>
              <a:t>olimex</a:t>
            </a:r>
            <a:r>
              <a:rPr lang="en-US" dirty="0"/>
              <a:t>-ltd/SNS-TMP-DS18B20-MAXIM/21662296?gclsrc=</a:t>
            </a:r>
            <a:r>
              <a:rPr lang="en-US" dirty="0" err="1"/>
              <a:t>aw.ds&amp;gad_source</a:t>
            </a:r>
            <a:r>
              <a:rPr lang="en-US" dirty="0"/>
              <a:t>=1&amp;gad_campaignid=20232005509&amp;gbraid=0AAAAADrbLliegx82J5vpe0y_dSkosqPHq&amp;gclid=CjwKCAiAkvDMBhBMEiwAnUA9BWWfq8euNs4YlOp4R3yMrWfnmcKLHueiwK5gKe5NqGmmtLZWDIv-0xoCUsoQAvD_BwE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Force: C4A-XX-125SL-120-23P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https://</a:t>
            </a:r>
            <a:r>
              <a:rPr lang="en-US" dirty="0" err="1"/>
              <a:t>www.digikey.com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/supplier-centers/micro-measurements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4F8BCA-EECD-EA3E-2392-245639C98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Purchasing Requests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B7D0E-4304-426C-580C-419C20D440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>
              <a:spcAft>
                <a:spcPts val="600"/>
              </a:spcAft>
            </a:pPr>
            <a:r>
              <a:rPr lang="en-US" dirty="0"/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179892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517E4-296C-BA60-AD4A-57C00999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53FFBE-CD8D-ABD8-4D58-9B1793637A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Cabling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7DCD3-8552-99C4-AECA-9BE00E168D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JST Housings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https://</a:t>
            </a:r>
            <a:r>
              <a:rPr lang="en-US" dirty="0" err="1"/>
              <a:t>www.adafruit.com</a:t>
            </a:r>
            <a:r>
              <a:rPr lang="en-US" dirty="0"/>
              <a:t>/product/261?srsltid=AfmBOoqKFq32RkdNJbVjYIHT7c1LhXjM035h4cGkiIayPoPf2IxK2BJw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DuPont Housings: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https://www.digikey.com/en/products/filter/rectangular-connectors/rectangular-connector-housings/319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AWG Wire Housings: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https://www.digikey.com/en/products/detail/te-connectivity-amp-connectors/321026/299225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LiPo Battery Chargers: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*JST to DuPont Housings do not exist, the Agriculture department must make them (instruction will be provided)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7CD1FE-5FD9-D572-1ED4-E85B11E89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Purchasing Requests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56CAA-28B9-133A-8B8A-65C2293EE1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9/13</a:t>
            </a:r>
          </a:p>
        </p:txBody>
      </p:sp>
    </p:spTree>
    <p:extLst>
      <p:ext uri="{BB962C8B-B14F-4D97-AF65-F5344CB8AC3E}">
        <p14:creationId xmlns:p14="http://schemas.microsoft.com/office/powerpoint/2010/main" val="1784175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EE2C-E869-EFCD-766A-B2EE7BAD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672C57-F465-3B96-B3BD-325579624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Plans &amp; Blockers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571E8-BE29-703B-B58C-A63EE3C73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Obtain data from agriculture and validate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Begin first draft of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79CA14-A166-E4A5-0FF4-AEC5C28F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E36D6-5529-D593-8824-84A72BC8A3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>
              <a:spcAft>
                <a:spcPts val="600"/>
              </a:spcAft>
            </a:pPr>
            <a:r>
              <a:rPr lang="en-US" dirty="0"/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301164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26822</TotalTime>
  <Words>497</Words>
  <Application>Microsoft Macintosh PowerPoint</Application>
  <PresentationFormat>On-screen Show (4:3)</PresentationFormat>
  <Paragraphs>100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Franklin Gothic Book</vt:lpstr>
      <vt:lpstr>Franklin Gothic Medium Cond</vt:lpstr>
      <vt:lpstr>Wingdings</vt:lpstr>
      <vt:lpstr>Acumin Pro Semibold</vt:lpstr>
      <vt:lpstr>Acumin Pro</vt:lpstr>
      <vt:lpstr>Franklin Gothic Medium</vt:lpstr>
      <vt:lpstr>Acumin Pro Condensed Semibold</vt:lpstr>
      <vt:lpstr>Arial</vt:lpstr>
      <vt:lpstr>Acumin Pro Medium</vt:lpstr>
      <vt:lpstr>Calibri</vt:lpstr>
      <vt:lpstr>Office Theme</vt:lpstr>
      <vt:lpstr>Week 8</vt:lpstr>
      <vt:lpstr>This Week</vt:lpstr>
      <vt:lpstr>PCB Updates</vt:lpstr>
      <vt:lpstr>PCB Updates</vt:lpstr>
      <vt:lpstr>PCB Updates</vt:lpstr>
      <vt:lpstr>PCB Updates</vt:lpstr>
      <vt:lpstr>Selection of Thermometer</vt:lpstr>
      <vt:lpstr>Purchasing Requests </vt:lpstr>
      <vt:lpstr>Purchasing Requests 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86</cp:revision>
  <cp:lastPrinted>2026-02-23T18:03:27Z</cp:lastPrinted>
  <dcterms:created xsi:type="dcterms:W3CDTF">2023-02-16T02:16:06Z</dcterms:created>
  <dcterms:modified xsi:type="dcterms:W3CDTF">2026-02-23T18:03:29Z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