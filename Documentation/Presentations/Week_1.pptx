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6"/>
  </p:notesMasterIdLst>
  <p:sldIdLst>
    <p:sldId id="267" r:id="rId5"/>
    <p:sldId id="295" r:id="rId6"/>
    <p:sldId id="296" r:id="rId7"/>
    <p:sldId id="300" r:id="rId8"/>
    <p:sldId id="301" r:id="rId9"/>
    <p:sldId id="302" r:id="rId10"/>
    <p:sldId id="303" r:id="rId11"/>
    <p:sldId id="297" r:id="rId12"/>
    <p:sldId id="298" r:id="rId13"/>
    <p:sldId id="299" r:id="rId14"/>
    <p:sldId id="277" r:id="rId15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7"/>
      <p:bold r:id="rId18"/>
      <p:italic r:id="rId19"/>
      <p:boldItalic r:id="rId20"/>
    </p:embeddedFont>
    <p:embeddedFont>
      <p:font typeface="Acumin Pro Medium" panose="020B0604020202020204" charset="0"/>
      <p:regular r:id="rId21"/>
      <p:italic r:id="rId22"/>
    </p:embeddedFont>
    <p:embeddedFont>
      <p:font typeface="Franklin Gothic Book" panose="020B0503020102020204" pitchFamily="34" charset="0"/>
      <p:regular r:id="rId23"/>
      <p:italic r:id="rId24"/>
    </p:embeddedFont>
    <p:embeddedFont>
      <p:font typeface="Franklin Gothic Medium" panose="020B0603020102020204" pitchFamily="34" charset="0"/>
      <p:regular r:id="rId25"/>
      <p:italic r:id="rId26"/>
    </p:embeddedFont>
    <p:embeddedFont>
      <p:font typeface="Franklin Gothic Medium Cond" panose="020B0606030402020204" pitchFamily="3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1" autoAdjust="0"/>
    <p:restoredTop sz="94692"/>
  </p:normalViewPr>
  <p:slideViewPr>
    <p:cSldViewPr snapToGrid="0">
      <p:cViewPr varScale="1">
        <p:scale>
          <a:sx n="76" d="100"/>
          <a:sy n="76" d="100"/>
        </p:scale>
        <p:origin x="824" y="56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cumin Pro Condensed Semibold" panose="020B0506020202020204" pitchFamily="34" charset="77"/>
              </a:rPr>
              <a:t>Week 4 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Arduino Nicla Sense Statistics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9/19/2025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D1C28-2600-7542-E9A4-0C8739EDF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BHI260AP motion sensor system with integrated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BMM150 magnetometer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BMP390 pressure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BME688 4-in-1 gas sensor with AI and integrated high-linearity, as well as high-accuracy pressure, humidity and temperature sensors. </a:t>
            </a:r>
          </a:p>
          <a:p>
            <a:br>
              <a:rPr lang="en-US" dirty="0"/>
            </a:br>
            <a:r>
              <a:rPr lang="en-US" dirty="0"/>
              <a:t>Datasheet: https://docs.arduino.cc/resources/datasheets/ABX00050-datasheet.pdf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D50425-C6CF-465E-06C4-01AD185D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Arduino Nicla Sense 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A6FA2E-4348-29C0-105C-CA125AB5CA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0" dirty="0"/>
              <a:t>22,86 mm x 22,86 mm, ~ 2 g Weight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8179A-8DDA-F8E8-22F9-CD22A12BAF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F8D7A139-A833-E1DD-F9F7-29EA904B236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854" r="2854"/>
          <a:stretch/>
        </p:blipFill>
        <p:spPr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FB5A2C9-36B2-50FA-6017-BC390E709D1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44" b="1884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2B23A2E8-E2DB-336B-0F19-56A1560DC1B6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4"/>
          <a:srcRect l="4119" r="4119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5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94150CE-86E3-4C89-0C61-A08B421E5F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428" b="10428"/>
          <a:stretch/>
        </p:blipFill>
        <p:spPr>
          <a:xfrm>
            <a:off x="1148576" y="0"/>
            <a:ext cx="6657278" cy="499295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593025-25A1-464D-434A-171CABA4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/>
              <a:t>BHI260AP</a:t>
            </a:r>
            <a:r>
              <a:rPr lang="en-US" dirty="0"/>
              <a:t> Flash Memory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56669-C5C5-E610-0451-52284134E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On-board vs. Wireless Memory</a:t>
            </a:r>
          </a:p>
        </p:txBody>
      </p:sp>
    </p:spTree>
    <p:extLst>
      <p:ext uri="{BB962C8B-B14F-4D97-AF65-F5344CB8AC3E}">
        <p14:creationId xmlns:p14="http://schemas.microsoft.com/office/powerpoint/2010/main" val="3142900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8DA93-D97E-9CB3-4E35-89027D75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Consumption (General Statistics)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EF240-4BEC-C16C-870B-89C11B627A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Page 13, Arduino Nicla Sense ME: https://docs.arduino.cc/resources/datasheets/ABX00050-datasheet.pdf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54CE-0BAA-BBAC-3FFA-91FEDF6E8A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8EA4F-671D-0D98-A92E-DB0FA7307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67" y="1714275"/>
            <a:ext cx="6345907" cy="423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9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A048D4-C535-B1E8-BF19-B38EE8D4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General Memory Considerations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CEB19-D23C-AE1F-FA59-4C37C9C039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40B115-57E4-1DF6-448B-EA36B37A4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650197"/>
              </p:ext>
            </p:extLst>
          </p:nvPr>
        </p:nvGraphicFramePr>
        <p:xfrm>
          <a:off x="351064" y="1626927"/>
          <a:ext cx="8450038" cy="3306194"/>
        </p:xfrm>
        <a:graphic>
          <a:graphicData uri="http://schemas.openxmlformats.org/drawingml/2006/table">
            <a:tbl>
              <a:tblPr/>
              <a:tblGrid>
                <a:gridCol w="2239678">
                  <a:extLst>
                    <a:ext uri="{9D8B030D-6E8A-4147-A177-3AD203B41FA5}">
                      <a16:colId xmlns:a16="http://schemas.microsoft.com/office/drawing/2014/main" val="3907713752"/>
                    </a:ext>
                  </a:extLst>
                </a:gridCol>
                <a:gridCol w="2293131">
                  <a:extLst>
                    <a:ext uri="{9D8B030D-6E8A-4147-A177-3AD203B41FA5}">
                      <a16:colId xmlns:a16="http://schemas.microsoft.com/office/drawing/2014/main" val="3603635868"/>
                    </a:ext>
                  </a:extLst>
                </a:gridCol>
                <a:gridCol w="1605169">
                  <a:extLst>
                    <a:ext uri="{9D8B030D-6E8A-4147-A177-3AD203B41FA5}">
                      <a16:colId xmlns:a16="http://schemas.microsoft.com/office/drawing/2014/main" val="2184627099"/>
                    </a:ext>
                  </a:extLst>
                </a:gridCol>
                <a:gridCol w="2312060">
                  <a:extLst>
                    <a:ext uri="{9D8B030D-6E8A-4147-A177-3AD203B41FA5}">
                      <a16:colId xmlns:a16="http://schemas.microsoft.com/office/drawing/2014/main" val="995634205"/>
                    </a:ext>
                  </a:extLst>
                </a:gridCol>
              </a:tblGrid>
              <a:tr h="25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Memory Type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Purpose / What It’s Good For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Capacity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Limitations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151362"/>
                  </a:ext>
                </a:extLst>
              </a:tr>
              <a:tr h="723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Internal Flash (512 KB)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Holds firmware, bootloader, other code + maybe small datasets; some OTA firmware space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512 KB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Shared space; large code or ML models + libraries + BLE stack can use most of it; little room for large data storage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258182"/>
                  </a:ext>
                </a:extLst>
              </a:tr>
              <a:tr h="877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SRAM (64 KB)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Working memory: variables, stack, buffers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64 KB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RAM is volatile, limited; can't hold large buffers; fragmentation or stack/heap overflow possible if too many libraries or high rate data handling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582874"/>
                  </a:ext>
                </a:extLst>
              </a:tr>
              <a:tr h="723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SPI Flash (2 MB)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Non-volatile data logging, raw sensor data, buffering during offline periods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2 MB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Only ~2 MB → fills quickly at high sample rates; read/write speed slower; wear &amp; write latency; power overhead when writing often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588424"/>
                  </a:ext>
                </a:extLst>
              </a:tr>
              <a:tr h="723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Sensor-dedicated QSPI 2 MB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For the BHI260AP internal needs: its own algorithms, calibration, possibly “execute-in-place” code in the sensor hub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2 MB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Probably not fully accessible for user data; intended mostly for the sensor’s internal firmware / patches; constrained interfaces</a:t>
                      </a:r>
                    </a:p>
                  </a:txBody>
                  <a:tcPr marL="70344" marR="70344" marT="35172" marB="35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163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14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DDB7-7051-F5E1-F281-FEC9DC0F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Consumption Comparisons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88350-1E9C-5D8F-D646-3C39AD2EED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3057" y="1007332"/>
            <a:ext cx="4068042" cy="395007"/>
          </a:xfrm>
        </p:spPr>
        <p:txBody>
          <a:bodyPr/>
          <a:lstStyle/>
          <a:p>
            <a:r>
              <a:rPr lang="en-US" dirty="0"/>
              <a:t>Bluetooth Low Energy (BLE) Streaming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85874-4F20-AEEB-37A1-EE0739E9A7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84E8FC-4542-4936-F10B-5F84D0CAE0DC}"/>
              </a:ext>
            </a:extLst>
          </p:cNvPr>
          <p:cNvSpPr txBox="1">
            <a:spLocks/>
          </p:cNvSpPr>
          <p:nvPr/>
        </p:nvSpPr>
        <p:spPr>
          <a:xfrm>
            <a:off x="495300" y="1106690"/>
            <a:ext cx="4068042" cy="395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itchFamily="2" charset="2"/>
              <a:buNone/>
              <a:defRPr sz="2000" b="1" i="0" kern="120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7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None/>
              <a:defRPr sz="10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Flash Logging</a:t>
            </a:r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B815EB2-501A-3CBC-9F7F-2A286C2359AE}"/>
              </a:ext>
            </a:extLst>
          </p:cNvPr>
          <p:cNvSpPr>
            <a:spLocks noGrp="1" noChangeArrowheads="1"/>
          </p:cNvSpPr>
          <p:nvPr>
            <p:ph idx="12"/>
          </p:nvPr>
        </p:nvSpPr>
        <p:spPr bwMode="auto">
          <a:xfrm>
            <a:off x="351064" y="1614835"/>
            <a:ext cx="393100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Total current: ~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1.5–2.2 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cumin Pro" panose="020B05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IMU + hub baseline: ~1.2–1.9 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Flash write duty: +0.15–0.38 mA (page writes)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Data rate: 12 B/sample × 200 Hz = 2.4 kB/s (~8.6 MB/h)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cumin Pro" panose="020B05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2 MB SPI flash fills in ~14 min @ 200 Hz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6 h battery need: ≥100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mAh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 Li-Po (with margin)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~2–3× more energy-efficient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Best for: offline, low-power logging with later upload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28E0D1E3-4887-AA83-9E39-DABA21E1B62C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4731868" y="1753334"/>
            <a:ext cx="363154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Total current: ~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4–6 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cumin Pro" panose="020B05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IMU + hub baseline: ~1.2–1.9 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Radio overhead: +3–4 mA (avg, 5–7 mA peaks)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Data rate: 2.4 kB/s (~19 kbps) over 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cumin Pro" panose="020B05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Unlimited logging time (requires receiver in range)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6 h battery need: ≥150–200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mAh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 Li-Po (with margin)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~2–3× less efficient than flash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umin Pro" panose="020B0504020202020204"/>
              </a:rPr>
              <a:t>Best for: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327201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F108-C12C-F47A-956A-E9ABD5CE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0B8B33-2CDA-7FFD-F3AD-ADA05643F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Battery Sizing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60F991-A811-FF5C-7C56-4945936A6D9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r>
              <a:rPr lang="en-US" dirty="0"/>
              <a:t> Flash logging: ~11 </a:t>
            </a:r>
            <a:r>
              <a:rPr lang="en-US" dirty="0" err="1"/>
              <a:t>mAh</a:t>
            </a:r>
            <a:r>
              <a:rPr lang="en-US" dirty="0"/>
              <a:t> for 6 h</a:t>
            </a:r>
          </a:p>
          <a:p>
            <a:pPr marL="0" indent="0">
              <a:buNone/>
            </a:pPr>
            <a:r>
              <a:rPr lang="en-US" dirty="0"/>
              <a:t>→ Pick ≥100 </a:t>
            </a:r>
            <a:r>
              <a:rPr lang="en-US" dirty="0" err="1"/>
              <a:t>mAh</a:t>
            </a:r>
            <a:r>
              <a:rPr lang="en-US" dirty="0"/>
              <a:t> Li-Po (safe margin)</a:t>
            </a:r>
          </a:p>
          <a:p>
            <a:r>
              <a:rPr lang="en-US" dirty="0"/>
              <a:t> BLE streaming: ~30 </a:t>
            </a:r>
            <a:r>
              <a:rPr lang="en-US" dirty="0" err="1"/>
              <a:t>mAh</a:t>
            </a:r>
            <a:r>
              <a:rPr lang="en-US" dirty="0"/>
              <a:t> for 6 h</a:t>
            </a:r>
          </a:p>
          <a:p>
            <a:pPr marL="0" indent="0">
              <a:buNone/>
            </a:pPr>
            <a:r>
              <a:rPr lang="en-US" dirty="0"/>
              <a:t>→ Pick ≥150–200 </a:t>
            </a:r>
            <a:r>
              <a:rPr lang="en-US" dirty="0" err="1"/>
              <a:t>mAh</a:t>
            </a:r>
            <a:r>
              <a:rPr lang="en-US" dirty="0"/>
              <a:t> Li-Po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general: 100–150 </a:t>
            </a:r>
            <a:r>
              <a:rPr lang="en-US" dirty="0" err="1"/>
              <a:t>mAh</a:t>
            </a:r>
            <a:r>
              <a:rPr lang="en-US" dirty="0"/>
              <a:t> (flash) or 200–300 </a:t>
            </a:r>
            <a:r>
              <a:rPr lang="en-US" dirty="0" err="1"/>
              <a:t>mAh</a:t>
            </a:r>
            <a:r>
              <a:rPr lang="en-US" dirty="0"/>
              <a:t> (streaming)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computer&#10;&#10;AI-generated content may be incorrect.">
            <a:extLst>
              <a:ext uri="{FF2B5EF4-FFF2-40B4-BE49-F238E27FC236}">
                <a16:creationId xmlns:a16="http://schemas.microsoft.com/office/drawing/2014/main" id="{A9D80A48-3722-9A82-CEF5-986E4DA15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868" y="2883955"/>
            <a:ext cx="4069232" cy="1709076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A7EBE-A921-EB0F-A7FF-1558BE3175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71932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5D6BB1B-1D4C-CBD6-DD48-D17C1DED751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5771C9-BA84-38C8-3DB7-5DAB89E9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BHI260AP 6 axis IMU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9A67C-8335-9EC9-794E-096595A0C1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Sampling Rate and Data Collection Calculations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7C42A6-C29E-0612-9A0D-FE6BEAD62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48" y="98292"/>
            <a:ext cx="5131304" cy="500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7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D9578F-2E8B-49CF-42A5-81C77C855946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149968" y="2509772"/>
            <a:ext cx="6852002" cy="25210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C4C738-9748-6681-DE3B-0564FF81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Rate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87E3D-EDDB-2A97-763C-C90E7A9B1C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from BMI270 datasheet: https://www.bosch-sensortec.com/media/boschsensortec/downloads/datasheets/bst-bmi270-ds000.pdf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1E1C5-96A7-80F2-AE2F-20C077BDDA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3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B7156-3473-29DD-7C00-9922115C8E9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201647"/>
            <a:ext cx="8450036" cy="44547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On-board memory: </a:t>
            </a:r>
            <a:r>
              <a:rPr lang="en-US" u="sng" dirty="0"/>
              <a:t>2 MB SPI Flash</a:t>
            </a:r>
            <a:r>
              <a:rPr lang="en-US" dirty="0"/>
              <a:t> (limited for long logging)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Recommended: 200 Hz accel + gyro</a:t>
            </a:r>
          </a:p>
          <a:p>
            <a:r>
              <a:rPr lang="en-US" dirty="0"/>
              <a:t>Captures bumps, pecks, gait – no missed events</a:t>
            </a:r>
          </a:p>
          <a:p>
            <a:r>
              <a:rPr lang="en-US" dirty="0"/>
              <a:t>Data rate: 12 B/sample → ~2.4 kB/s → ~8.6 MB/hour</a:t>
            </a:r>
          </a:p>
          <a:p>
            <a:r>
              <a:rPr lang="en-US" dirty="0"/>
              <a:t>On-board flash fills in ~14 min at 200 Hz raw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Anything above the Nyquist of 100 Hz should capture the information well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F24D85-7950-F81E-8AAD-3B838D71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Rate Generalizations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6D303-DC6B-481C-A6E9-D465650F46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02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http://schemas.microsoft.com/office/2006/metadata/properties"/>
    <ds:schemaRef ds:uri="37af3f4b-4b66-46f9-8456-831d9bc3e737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8391</TotalTime>
  <Words>663</Words>
  <Application>Microsoft Office PowerPoint</Application>
  <PresentationFormat>On-screen Show (4:3)</PresentationFormat>
  <Paragraphs>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Wingdings</vt:lpstr>
      <vt:lpstr>Arial</vt:lpstr>
      <vt:lpstr>Franklin Gothic Medium</vt:lpstr>
      <vt:lpstr>Acumin Pro Condensed Semibold</vt:lpstr>
      <vt:lpstr>Franklin Gothic Medium Cond</vt:lpstr>
      <vt:lpstr>Calibri</vt:lpstr>
      <vt:lpstr>Acumin Pro Semibold</vt:lpstr>
      <vt:lpstr>Acumin Pro</vt:lpstr>
      <vt:lpstr>Acumin Pro Medium</vt:lpstr>
      <vt:lpstr>Franklin Gothic Book</vt:lpstr>
      <vt:lpstr>Office Theme</vt:lpstr>
      <vt:lpstr>Week 4 </vt:lpstr>
      <vt:lpstr>Arduino Nicla Sense ME</vt:lpstr>
      <vt:lpstr>BHI260AP Flash Memory</vt:lpstr>
      <vt:lpstr>Power Consumption (General Statistics)</vt:lpstr>
      <vt:lpstr>General Memory Considerations</vt:lpstr>
      <vt:lpstr>Energy Consumption Comparisons</vt:lpstr>
      <vt:lpstr>Battery Sizing</vt:lpstr>
      <vt:lpstr>BHI260AP 6 axis IMU</vt:lpstr>
      <vt:lpstr>Sampling Rate</vt:lpstr>
      <vt:lpstr>Sampling Rate Generalizations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38</cp:revision>
  <dcterms:created xsi:type="dcterms:W3CDTF">2023-02-16T02:16:06Z</dcterms:created>
  <dcterms:modified xsi:type="dcterms:W3CDTF">2025-09-19T16:32:04Z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